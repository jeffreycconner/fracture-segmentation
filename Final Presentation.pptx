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5"/>
  </p:notesMasterIdLst>
  <p:sldIdLst>
    <p:sldId id="256" r:id="rId2"/>
    <p:sldId id="257" r:id="rId3"/>
    <p:sldId id="258" r:id="rId4"/>
    <p:sldId id="291" r:id="rId5"/>
    <p:sldId id="259" r:id="rId6"/>
    <p:sldId id="277" r:id="rId7"/>
    <p:sldId id="261" r:id="rId8"/>
    <p:sldId id="264" r:id="rId9"/>
    <p:sldId id="266" r:id="rId10"/>
    <p:sldId id="265" r:id="rId11"/>
    <p:sldId id="262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67" r:id="rId20"/>
    <p:sldId id="268" r:id="rId21"/>
    <p:sldId id="280" r:id="rId22"/>
    <p:sldId id="282" r:id="rId23"/>
    <p:sldId id="283" r:id="rId24"/>
    <p:sldId id="281" r:id="rId25"/>
    <p:sldId id="275" r:id="rId26"/>
    <p:sldId id="269" r:id="rId27"/>
    <p:sldId id="272" r:id="rId28"/>
    <p:sldId id="270" r:id="rId29"/>
    <p:sldId id="273" r:id="rId30"/>
    <p:sldId id="274" r:id="rId31"/>
    <p:sldId id="278" r:id="rId32"/>
    <p:sldId id="279" r:id="rId33"/>
    <p:sldId id="263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7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4C8070-F36C-6E7B-7D78-13A912D5579E}" v="104" dt="2025-04-30T00:00:01.381"/>
    <p1510:client id="{2586D774-4FCB-143C-6077-C474A748380D}" v="347" dt="2025-04-30T22:13:17.866"/>
    <p1510:client id="{2D28ACD3-3EF3-6497-EE1A-2B9347709425}" v="79" dt="2025-04-30T11:19:31.486"/>
    <p1510:client id="{3D761F16-B106-0394-312D-35C6CBE0B441}" v="3" dt="2025-04-29T21:56:58.662"/>
    <p1510:client id="{3F808ED6-16B9-0BC2-1E0E-B89EF3E957F7}" v="84" dt="2025-04-30T23:43:59.849"/>
    <p1510:client id="{49395460-9DD9-76B0-9562-EB9CE154CB39}" v="508" dt="2025-04-30T00:34:06.819"/>
    <p1510:client id="{49C1A78B-1CDA-4523-91F1-3AC37BBDA528}" v="12" dt="2025-05-01T00:32:15.912"/>
    <p1510:client id="{50BAEF40-161E-5DAF-F7A8-CF95727A726A}" v="437" dt="2025-04-30T16:51:47.254"/>
    <p1510:client id="{604DD50F-DCF3-68D4-1639-F4D990D5367C}" v="178" dt="2025-04-29T23:10:30.236"/>
    <p1510:client id="{62D12CA5-F189-2AC0-DA0F-98C29E45F42A}" v="6" dt="2025-04-29T23:05:17.856"/>
    <p1510:client id="{646D22E9-06FC-4782-91C3-14E2E70FD845}" v="19" dt="2025-04-30T01:28:58.101"/>
    <p1510:client id="{8899D607-23D4-7E7F-99CC-1C876B84BA99}" v="44" dt="2025-04-30T12:14:56.064"/>
    <p1510:client id="{8E69DA6F-7C9E-6B01-6B7B-5454CB69AC92}" v="41" dt="2025-04-30T20:28:32.573"/>
    <p1510:client id="{AD39C42A-4B3F-6A10-597F-DD100F2BFE3B}" v="272" dt="2025-04-30T00:08:12.058"/>
    <p1510:client id="{BD8D67CB-9174-CF26-B281-C9B8BAA325B5}" v="12" dt="2025-04-30T19:58:01.659"/>
    <p1510:client id="{BE5AB466-1CA1-43F1-0EBE-8418BB5D0077}" v="988" dt="2025-04-29T23:33:48.481"/>
    <p1510:client id="{C5BFF2D6-AE62-B61E-573D-66419FE59854}" v="72" dt="2025-04-30T01:03:08.796"/>
    <p1510:client id="{CA833991-8B94-F09F-39F5-75444664D4EC}" v="4" dt="2025-05-01T20:48:18.902"/>
    <p1510:client id="{D00683B7-B09D-6B66-D43C-D37786C57BA0}" v="774" dt="2025-04-30T13:05:34.528"/>
    <p1510:client id="{F8F39DD0-4B0D-FEEB-9160-FF14A85CBD7C}" v="725" dt="2025-04-30T03:41:37.8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DDE347-652E-47EF-9687-7A60D89C8CB4}" type="datetimeFigureOut">
              <a:t>5/1/2025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242B26-7BED-4327-9A27-8A637E39F81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389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Here is our overall approach laid out. We will each be using the same pre-processed data for training our individual models.</a:t>
            </a:r>
          </a:p>
          <a:p>
            <a:r>
              <a:rPr lang="en-US">
                <a:ea typeface="Calibri"/>
                <a:cs typeface="Calibri"/>
              </a:rPr>
              <a:t>Moving in to training our models, we will each need to annotate the data images differently as the different models require different inputs.</a:t>
            </a:r>
          </a:p>
          <a:p>
            <a:r>
              <a:rPr lang="en-US">
                <a:ea typeface="Calibri"/>
                <a:cs typeface="Calibri"/>
              </a:rPr>
              <a:t>And then once we are finished we will each evaluate the models using the same metrics so we have good baselines to compare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8E3C5D-8340-434C-9497-0C9E5A3A417D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028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Because ResNet 18 is a classification model, what I set up for our segmentation project </a:t>
            </a:r>
            <a:r>
              <a:rPr lang="en-US"/>
              <a:t>is a U-Net-style neural network designed for binary image segmentation, such as detecting fractures in medical images. </a:t>
            </a:r>
          </a:p>
          <a:p>
            <a:endParaRPr lang="en-US"/>
          </a:p>
          <a:p>
            <a:r>
              <a:rPr lang="en-US"/>
              <a:t>A </a:t>
            </a:r>
            <a:r>
              <a:rPr lang="en-US" b="1"/>
              <a:t>U-Net</a:t>
            </a:r>
            <a:r>
              <a:rPr lang="en-US"/>
              <a:t> is a type of convolutional neural network (CNN) architecture designed specifically for </a:t>
            </a:r>
            <a:r>
              <a:rPr lang="en-US" b="1"/>
              <a:t>semantic segmentation</a:t>
            </a:r>
            <a:r>
              <a:rPr lang="en-US"/>
              <a:t> tasks — where the goal is to assign a class label to each pixel in an image. It was originally developed for </a:t>
            </a:r>
            <a:r>
              <a:rPr lang="en-US" b="1"/>
              <a:t>biomedical image segmentation</a:t>
            </a:r>
            <a:r>
              <a:rPr lang="en-US"/>
              <a:t>, but it's now widely used in many segmentation applications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/>
              <a:t>Using a pretrained ResNet-18 as the encoder to extract hierarchical features from the input image at multiple spatial resolutions. These features are progressively </a:t>
            </a:r>
            <a:r>
              <a:rPr lang="en-US" err="1"/>
              <a:t>downsampled</a:t>
            </a:r>
            <a:r>
              <a:rPr lang="en-US"/>
              <a:t> through layers </a:t>
            </a:r>
            <a:r>
              <a:rPr lang="en-US" err="1"/>
              <a:t>nefore</a:t>
            </a:r>
            <a:r>
              <a:rPr lang="en-US"/>
              <a:t> the decoder then </a:t>
            </a:r>
            <a:r>
              <a:rPr lang="en-US" err="1"/>
              <a:t>upsamples</a:t>
            </a:r>
            <a:r>
              <a:rPr lang="en-US"/>
              <a:t> the features using transposed convolutions, and then combining them with corresponding encoder outputs via skip connections to preserve spatial detail. Finally, a 1x1 convolution layer generates a single-channel output map representing raw segmentation logits, which can be converted to probabilities using a sigmoid function during evaluation.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42B26-7BED-4327-9A27-8A637E39F81F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151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FigureOut">
              <a:rPr lang="en-US" dirty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637042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FigureOut">
              <a:rPr lang="en-US" dirty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414223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FigureOut">
              <a:rPr lang="en-US" dirty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838649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FigureOut">
              <a:rPr lang="en-US" dirty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11684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FigureOut">
              <a:rPr lang="en-US" dirty="0"/>
              <a:t>5/1/2025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617380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FigureOut">
              <a:rPr lang="en-US" dirty="0"/>
              <a:t>5/1/2025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340283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FigureOut">
              <a:rPr lang="en-US" dirty="0"/>
              <a:t>5/1/2025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94213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FigureOut">
              <a:rPr lang="en-US" dirty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20604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FigureOut">
              <a:rPr lang="en-US" dirty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048299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FigureOut">
              <a:rPr lang="en-US" dirty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608131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FigureOut">
              <a:rPr lang="en-US" dirty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343134"/>
      </p:ext>
    </p:extLst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FigureOut">
              <a:rPr lang="en-US" dirty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0094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528">
          <p15:clr>
            <a:srgbClr val="F26B43"/>
          </p15:clr>
        </p15:guide>
        <p15:guide id="19" orient="horz" pos="2160">
          <p15:clr>
            <a:srgbClr val="F26B43"/>
          </p15:clr>
        </p15:guide>
        <p15:guide id="20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figshare.com/articles/dataset/The_dataset/22363012?file=43283628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Bone Fractures Localization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70604" y="4755175"/>
            <a:ext cx="8132227" cy="13504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b="1"/>
              <a:t>Presented by Group 5:</a:t>
            </a:r>
            <a:r>
              <a:rPr lang="en-US"/>
              <a:t> </a:t>
            </a:r>
            <a:r>
              <a:rPr lang="en-US" b="1">
                <a:latin typeface="Times New Roman"/>
                <a:cs typeface="Times New Roman"/>
              </a:rPr>
              <a:t>David Boulos, Jeffrey Conner, Aria Kieras &amp; Nhu Tran</a:t>
            </a:r>
            <a:endParaRPr lang="en-US">
              <a:latin typeface="Times New Roman"/>
              <a:cs typeface="Times New Roman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0871FD-4B94-844F-1EA2-538F23919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F6315-E6A9-E270-A447-869D0AC76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63" y="-152530"/>
            <a:ext cx="9956747" cy="1438780"/>
          </a:xfrm>
        </p:spPr>
        <p:txBody>
          <a:bodyPr/>
          <a:lstStyle/>
          <a:p>
            <a:r>
              <a:rPr lang="en-US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21516-A281-C8A1-A89C-C3D791882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8134"/>
            <a:ext cx="5233262" cy="4428829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sz="3600"/>
              <a:t>Fractures Localization</a:t>
            </a:r>
          </a:p>
          <a:p>
            <a:r>
              <a:rPr lang="en-US" sz="3600"/>
              <a:t>FracAtlas Dataset</a:t>
            </a:r>
          </a:p>
          <a:p>
            <a:r>
              <a:rPr lang="en-US" sz="3600"/>
              <a:t>Models: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3400"/>
              <a:t> ResNet18 (baseline)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3400"/>
              <a:t> DenseNet121 (baseline)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3400"/>
              <a:t> Faster R-CNN (initial solution)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3400"/>
              <a:t> YOLOv8(refined solution)</a:t>
            </a:r>
            <a:endParaRPr lang="en-US"/>
          </a:p>
          <a:p>
            <a:endParaRPr lang="en-US" sz="3600"/>
          </a:p>
        </p:txBody>
      </p:sp>
      <p:pic>
        <p:nvPicPr>
          <p:cNvPr id="5" name="Picture 4" descr="Investigation of Focal Loss in Deep Learning Models For Femur Fractures  Classification">
            <a:extLst>
              <a:ext uri="{FF2B5EF4-FFF2-40B4-BE49-F238E27FC236}">
                <a16:creationId xmlns:a16="http://schemas.microsoft.com/office/drawing/2014/main" id="{71B052AD-C25A-A946-96C4-99B7A591E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3178" y="-4117"/>
            <a:ext cx="5226964" cy="638836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A016B-51B4-722F-3632-747CAAAF9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889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D7F8A-80E4-5BFC-88C9-2E30B55FF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52" y="-2277"/>
            <a:ext cx="9956747" cy="1438780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Dataset Summary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7E7E4B0-2DCA-B9F3-53DD-3E13467AA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696836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b="1"/>
              <a:t>FracAtlas:</a:t>
            </a:r>
          </a:p>
          <a:p>
            <a:pPr marL="457200" indent="-457200">
              <a:buFont typeface="Arial,Sans-Serif"/>
              <a:buChar char="•"/>
            </a:pPr>
            <a:r>
              <a:rPr lang="en-US" sz="2400"/>
              <a:t>Data folder Images, Annotations, Utilities folders and a metadata file.</a:t>
            </a:r>
          </a:p>
          <a:p>
            <a:pPr marL="457200" indent="-457200">
              <a:buFont typeface="Arial,Sans-Serif"/>
              <a:buChar char="•"/>
            </a:pPr>
            <a:r>
              <a:rPr lang="en-US" sz="2400"/>
              <a:t>Images are divided into Fractures vs Non-fractures</a:t>
            </a:r>
          </a:p>
          <a:p>
            <a:pPr marL="457200" indent="-457200">
              <a:buFont typeface="Arial,Sans-Serif"/>
              <a:buChar char="•"/>
            </a:pPr>
            <a:r>
              <a:rPr lang="en-US" sz="2400">
                <a:latin typeface="Tenorite"/>
              </a:rPr>
              <a:t>Image Format: JPG</a:t>
            </a:r>
          </a:p>
          <a:p>
            <a:pPr marL="457200" indent="-457200">
              <a:buFont typeface="Arial,Sans-Serif"/>
              <a:buChar char="•"/>
            </a:pPr>
            <a:r>
              <a:rPr lang="en-US" sz="2400">
                <a:latin typeface="Tenorite"/>
              </a:rPr>
              <a:t>Annotations: </a:t>
            </a:r>
            <a:r>
              <a:rPr lang="en-US" sz="2400"/>
              <a:t>COCO, VGG, YOLO and PASCAL VOC.</a:t>
            </a:r>
          </a:p>
          <a:p>
            <a:pPr marL="457200" indent="-457200">
              <a:buFont typeface="Arial,Sans-Serif"/>
              <a:buChar char="•"/>
            </a:pPr>
            <a:r>
              <a:rPr lang="en-US" sz="2400"/>
              <a:t>Source:</a:t>
            </a:r>
            <a:r>
              <a:rPr lang="en-US" sz="2800"/>
              <a:t> </a:t>
            </a:r>
            <a:r>
              <a:rPr lang="en-US" sz="2800">
                <a:hlinkClick r:id="rId2"/>
              </a:rPr>
              <a:t>https://figshare.com/articles/dataset/The_dataset/22363012?file=43283628</a:t>
            </a:r>
            <a:endParaRPr lang="en-US" sz="2800"/>
          </a:p>
          <a:p>
            <a:pPr marL="0" indent="0">
              <a:buNone/>
            </a:pPr>
            <a:endParaRPr lang="en-US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44ED9-7311-21EF-B758-AEF00DEAD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932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61AA0-049F-4FBC-DE9C-F0313180A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52" y="-2277"/>
            <a:ext cx="9956747" cy="1438780"/>
          </a:xfrm>
        </p:spPr>
        <p:txBody>
          <a:bodyPr/>
          <a:lstStyle/>
          <a:p>
            <a:r>
              <a:rPr lang="en-US"/>
              <a:t>Dataset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7F6B3-F7B7-9914-509C-6C5FAD739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453" y="1845288"/>
            <a:ext cx="9956747" cy="38701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Arial,Sans-Serif" panose="020B0604020202020204" pitchFamily="34" charset="0"/>
            </a:pPr>
            <a:r>
              <a:rPr lang="en-US" sz="2600">
                <a:latin typeface="Tenorite"/>
              </a:rPr>
              <a:t>4,083 X-ray scans</a:t>
            </a:r>
          </a:p>
          <a:p>
            <a:pPr marL="457200" indent="-457200">
              <a:buFont typeface="Arial,Sans-Serif" panose="020B0604020202020204" pitchFamily="34" charset="0"/>
            </a:pPr>
            <a:r>
              <a:rPr lang="en-US" sz="2600">
                <a:latin typeface="Tenorite"/>
              </a:rPr>
              <a:t>717 images show fractures, covering 922 individual fracture instances</a:t>
            </a:r>
          </a:p>
          <a:p>
            <a:pPr marL="457200" indent="-457200">
              <a:buFont typeface="Arial,Sans-Serif" panose="020B0604020202020204" pitchFamily="34" charset="0"/>
            </a:pPr>
            <a:r>
              <a:rPr lang="en-US" sz="2600">
                <a:latin typeface="Tenorite"/>
              </a:rPr>
              <a:t>4 anatomical regions: hand, leg, hip and shoulder</a:t>
            </a:r>
          </a:p>
          <a:p>
            <a:pPr marL="457200" indent="-457200">
              <a:buFont typeface="Arial,Sans-Serif" panose="020B0604020202020204" pitchFamily="34" charset="0"/>
            </a:pPr>
            <a:r>
              <a:rPr lang="en-US" sz="2600">
                <a:latin typeface="Tenorite"/>
              </a:rPr>
              <a:t>Diverse demographic of patients in terms of age and gender.</a:t>
            </a:r>
          </a:p>
          <a:p>
            <a:pPr marL="457200" indent="-457200">
              <a:buFont typeface="Arial,Sans-Serif" panose="020B0604020202020204" pitchFamily="34" charset="0"/>
            </a:pPr>
            <a:r>
              <a:rPr lang="en-US" sz="2600">
                <a:latin typeface="Tenorite"/>
              </a:rPr>
              <a:t>Images are captured in various views: frontal, lateral and oblique.</a:t>
            </a:r>
          </a:p>
          <a:p>
            <a:pPr marL="457200" indent="-457200">
              <a:buFont typeface="Arial,Sans-Serif" panose="020B0604020202020204" pitchFamily="34" charset="0"/>
            </a:pPr>
            <a:r>
              <a:rPr lang="en-US" sz="2600">
                <a:latin typeface="Tenorite"/>
              </a:rPr>
              <a:t>Some images show orthopedic devices.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E78609-D7D3-45DD-FFBB-63A6A21C1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245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172A9-039C-922D-06A3-F532FD3BE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Summary of EDA insights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D77E6-C010-4F88-7083-31EEA755C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Inspect distribution of images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Fractured vs Non-Fractured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Leg, Hand, Shoulder, Hip locations</a:t>
            </a:r>
          </a:p>
          <a:p>
            <a:r>
              <a:rPr lang="en-US"/>
              <a:t>Visualize different fracture locations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Fractured images with provided annotations</a:t>
            </a:r>
          </a:p>
          <a:p>
            <a:r>
              <a:rPr lang="en-US"/>
              <a:t>Major Challenges: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Class imbalance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Small dataset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pic>
        <p:nvPicPr>
          <p:cNvPr id="4" name="Picture 3" descr="A graph with blue rectangular bars&#10;&#10;AI-generated content may be incorrect.">
            <a:extLst>
              <a:ext uri="{FF2B5EF4-FFF2-40B4-BE49-F238E27FC236}">
                <a16:creationId xmlns:a16="http://schemas.microsoft.com/office/drawing/2014/main" id="{389382CD-3E82-5125-9C3F-9C40623FD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522" y="3965097"/>
            <a:ext cx="4185958" cy="28929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978818-FBA3-E3C4-D5BA-337E7644BA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6" t="868" r="83"/>
          <a:stretch/>
        </p:blipFill>
        <p:spPr>
          <a:xfrm>
            <a:off x="8025769" y="500945"/>
            <a:ext cx="4155859" cy="3224392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32CBF-B665-24F9-5A0C-17073EB3B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28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6F3B7AD-6B50-843F-DAD1-1BC5D9D160F5}"/>
              </a:ext>
            </a:extLst>
          </p:cNvPr>
          <p:cNvSpPr/>
          <p:nvPr/>
        </p:nvSpPr>
        <p:spPr>
          <a:xfrm>
            <a:off x="6355" y="2285585"/>
            <a:ext cx="3084124" cy="3829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3000" b="1">
                <a:ea typeface="+mn-lt"/>
                <a:cs typeface="+mn-lt"/>
              </a:rPr>
              <a:t>  Data </a:t>
            </a:r>
            <a:endParaRPr lang="en-US" sz="3000" b="1"/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Convert to 3-channel format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Apply </a:t>
            </a:r>
            <a:r>
              <a:rPr lang="en-US" sz="2000" b="1">
                <a:ea typeface="+mn-lt"/>
                <a:cs typeface="+mn-lt"/>
              </a:rPr>
              <a:t>CLAHE</a:t>
            </a:r>
            <a:r>
              <a:rPr lang="en-US" sz="2000">
                <a:ea typeface="+mn-lt"/>
                <a:cs typeface="+mn-lt"/>
              </a:rPr>
              <a:t> for contrast enhancement.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Resize images 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Normalization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/>
              <a:t>Augment the training data</a:t>
            </a:r>
          </a:p>
          <a:p>
            <a:pPr marL="285750" indent="-285750">
              <a:buFont typeface="Arial"/>
              <a:buChar char="•"/>
            </a:pPr>
            <a:r>
              <a:rPr lang="en-US" sz="2000"/>
              <a:t>Label preprocessing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DC0AD5-F847-63B4-4A77-AC400B31DB53}"/>
              </a:ext>
            </a:extLst>
          </p:cNvPr>
          <p:cNvSpPr/>
          <p:nvPr/>
        </p:nvSpPr>
        <p:spPr>
          <a:xfrm>
            <a:off x="5390155" y="2283400"/>
            <a:ext cx="2354850" cy="3829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3000" b="1"/>
              <a:t>Models</a:t>
            </a:r>
            <a:endParaRPr lang="en-US" sz="3000"/>
          </a:p>
          <a:p>
            <a:pPr algn="ctr"/>
            <a:endParaRPr lang="en-US" sz="2300" b="1"/>
          </a:p>
          <a:p>
            <a:pPr marL="285750" indent="-285750">
              <a:buFont typeface="Arial"/>
              <a:buChar char="•"/>
            </a:pPr>
            <a:r>
              <a:rPr lang="en-US" sz="2000"/>
              <a:t>ResNet18 </a:t>
            </a:r>
          </a:p>
          <a:p>
            <a:pPr marL="285750" indent="-285750">
              <a:buFont typeface="Arial"/>
              <a:buChar char="•"/>
            </a:pPr>
            <a:r>
              <a:rPr lang="en-US" sz="2000" err="1"/>
              <a:t>DenseNet</a:t>
            </a:r>
            <a:r>
              <a:rPr lang="en-US" sz="2000"/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 sz="2000"/>
              <a:t>YOLOv8</a:t>
            </a:r>
          </a:p>
          <a:p>
            <a:pPr marL="285750" indent="-285750">
              <a:buFont typeface="Arial"/>
              <a:buChar char="•"/>
            </a:pPr>
            <a:r>
              <a:rPr lang="en-US" sz="2000"/>
              <a:t>Faster R-CNN 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48E5C9-3077-5C32-3A2C-159B30CAD587}"/>
              </a:ext>
            </a:extLst>
          </p:cNvPr>
          <p:cNvSpPr/>
          <p:nvPr/>
        </p:nvSpPr>
        <p:spPr>
          <a:xfrm>
            <a:off x="9625690" y="2284971"/>
            <a:ext cx="2576183" cy="3807839"/>
          </a:xfrm>
          <a:prstGeom prst="rect">
            <a:avLst/>
          </a:prstGeom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45720" rtlCol="0" anchor="t">
            <a:normAutofit/>
          </a:bodyPr>
          <a:lstStyle/>
          <a:p>
            <a:pPr algn="ctr"/>
            <a:r>
              <a:rPr lang="en-US" sz="3000" b="1"/>
              <a:t>Evaluation</a:t>
            </a:r>
            <a:endParaRPr lang="en-US" sz="3000"/>
          </a:p>
          <a:p>
            <a:endParaRPr lang="en-US" sz="3000" b="1"/>
          </a:p>
          <a:p>
            <a:pPr marL="285750" indent="-285750">
              <a:buFont typeface="Arial"/>
              <a:buChar char="•"/>
            </a:pPr>
            <a:r>
              <a:rPr lang="en-US" sz="2000"/>
              <a:t>Localization: </a:t>
            </a:r>
            <a:r>
              <a:rPr lang="en-US" sz="2000" err="1"/>
              <a:t>mAP</a:t>
            </a:r>
            <a:r>
              <a:rPr lang="en-US" sz="2000"/>
              <a:t>, IOU</a:t>
            </a:r>
          </a:p>
          <a:p>
            <a:pPr marL="285750" indent="-285750">
              <a:buFont typeface="Arial"/>
              <a:buChar char="•"/>
            </a:pPr>
            <a:r>
              <a:rPr lang="en-US" sz="2000"/>
              <a:t>Classification: precision, recall, F1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F2F8522-65A0-8B82-D761-F009BD151E79}"/>
              </a:ext>
            </a:extLst>
          </p:cNvPr>
          <p:cNvSpPr/>
          <p:nvPr/>
        </p:nvSpPr>
        <p:spPr>
          <a:xfrm>
            <a:off x="3078962" y="2439161"/>
            <a:ext cx="2311905" cy="1995713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Train with Oversampling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D0E307-1258-4787-B7C3-CE31550F9621}"/>
              </a:ext>
            </a:extLst>
          </p:cNvPr>
          <p:cNvSpPr txBox="1"/>
          <p:nvPr/>
        </p:nvSpPr>
        <p:spPr>
          <a:xfrm>
            <a:off x="5036" y="-27051"/>
            <a:ext cx="12189772" cy="1477328"/>
          </a:xfrm>
          <a:prstGeom prst="rect">
            <a:avLst/>
          </a:prstGeom>
          <a:solidFill>
            <a:schemeClr val="tx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3000">
              <a:solidFill>
                <a:schemeClr val="bg1"/>
              </a:solidFill>
              <a:latin typeface="Aptos Display"/>
            </a:endParaRPr>
          </a:p>
          <a:p>
            <a:r>
              <a:rPr lang="en-US" sz="3000">
                <a:solidFill>
                  <a:schemeClr val="bg1"/>
                </a:solidFill>
                <a:latin typeface="Aptos Display"/>
              </a:rPr>
              <a:t>Modeling Pipeline</a:t>
            </a:r>
            <a:endParaRPr lang="en-US">
              <a:solidFill>
                <a:schemeClr val="bg1"/>
              </a:solidFill>
            </a:endParaRPr>
          </a:p>
          <a:p>
            <a:endParaRPr lang="en-US" sz="3000">
              <a:solidFill>
                <a:schemeClr val="bg1"/>
              </a:solidFill>
              <a:latin typeface="Aptos Display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8D6FD44-0897-1D22-ACC0-5A047955997A}"/>
              </a:ext>
            </a:extLst>
          </p:cNvPr>
          <p:cNvSpPr/>
          <p:nvPr/>
        </p:nvSpPr>
        <p:spPr>
          <a:xfrm>
            <a:off x="7758831" y="2441707"/>
            <a:ext cx="1893341" cy="2006446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Evaluate and Refine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C159B6-D7ED-9A13-4B47-39CF8E742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502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4710F-D6FC-082D-3AB7-F9F06F943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528" y="-560362"/>
            <a:ext cx="9956747" cy="1438780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ResNet18 – Model Overview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2E4AC8-9780-B6FA-1EA4-D25030729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Architecture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UNet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ResNet encoder</a:t>
            </a:r>
          </a:p>
          <a:p>
            <a:r>
              <a:rPr lang="en-US"/>
              <a:t>50 Epochs</a:t>
            </a:r>
          </a:p>
          <a:p>
            <a:r>
              <a:rPr lang="en-US"/>
              <a:t>Experiments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Before Oversampling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After Oversampling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4C06C3-3C44-D62B-C4A6-C1BE10B017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441855"/>
              </p:ext>
            </p:extLst>
          </p:nvPr>
        </p:nvGraphicFramePr>
        <p:xfrm>
          <a:off x="4686497" y="1112319"/>
          <a:ext cx="7217187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1051">
                  <a:extLst>
                    <a:ext uri="{9D8B030D-6E8A-4147-A177-3AD203B41FA5}">
                      <a16:colId xmlns:a16="http://schemas.microsoft.com/office/drawing/2014/main" val="1417188749"/>
                    </a:ext>
                  </a:extLst>
                </a:gridCol>
                <a:gridCol w="1491198">
                  <a:extLst>
                    <a:ext uri="{9D8B030D-6E8A-4147-A177-3AD203B41FA5}">
                      <a16:colId xmlns:a16="http://schemas.microsoft.com/office/drawing/2014/main" val="1136532393"/>
                    </a:ext>
                  </a:extLst>
                </a:gridCol>
                <a:gridCol w="1252606">
                  <a:extLst>
                    <a:ext uri="{9D8B030D-6E8A-4147-A177-3AD203B41FA5}">
                      <a16:colId xmlns:a16="http://schemas.microsoft.com/office/drawing/2014/main" val="334639677"/>
                    </a:ext>
                  </a:extLst>
                </a:gridCol>
                <a:gridCol w="3042332">
                  <a:extLst>
                    <a:ext uri="{9D8B030D-6E8A-4147-A177-3AD203B41FA5}">
                      <a16:colId xmlns:a16="http://schemas.microsoft.com/office/drawing/2014/main" val="2764750648"/>
                    </a:ext>
                  </a:extLst>
                </a:gridCol>
              </a:tblGrid>
              <a:tr h="613279">
                <a:tc>
                  <a:txBody>
                    <a:bodyPr/>
                    <a:lstStyle/>
                    <a:p>
                      <a:r>
                        <a:rPr lang="en-US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Before 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After 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Understanding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64563"/>
                  </a:ext>
                </a:extLst>
              </a:tr>
              <a:tr h="613279">
                <a:tc>
                  <a:txBody>
                    <a:bodyPr/>
                    <a:lstStyle/>
                    <a:p>
                      <a:r>
                        <a:rPr lang="en-US"/>
                        <a:t>Train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0.2966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0.2103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Model fit training data more effectively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988095"/>
                  </a:ext>
                </a:extLst>
              </a:tr>
              <a:tr h="613279">
                <a:tc>
                  <a:txBody>
                    <a:bodyPr/>
                    <a:lstStyle/>
                    <a:p>
                      <a:r>
                        <a:rPr lang="en-US"/>
                        <a:t>Val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0.7551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Generalization slightly improved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659204"/>
                  </a:ext>
                </a:extLst>
              </a:tr>
              <a:tr h="613279">
                <a:tc>
                  <a:txBody>
                    <a:bodyPr/>
                    <a:lstStyle/>
                    <a:p>
                      <a:r>
                        <a:rPr lang="en-US"/>
                        <a:t>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0.0967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0.1196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Better  segmentation overlap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217407"/>
                  </a:ext>
                </a:extLst>
              </a:tr>
              <a:tr h="613279">
                <a:tc>
                  <a:txBody>
                    <a:bodyPr/>
                    <a:lstStyle/>
                    <a:p>
                      <a:r>
                        <a:rPr lang="en-US" err="1"/>
                        <a:t>IoU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More accurate region prediction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0094330"/>
                  </a:ext>
                </a:extLst>
              </a:tr>
              <a:tr h="613279">
                <a:tc>
                  <a:txBody>
                    <a:bodyPr/>
                    <a:lstStyle/>
                    <a:p>
                      <a:r>
                        <a:rPr lang="en-US" err="1"/>
                        <a:t>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0.0666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Improved precision/recall tradeoff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279639"/>
                  </a:ext>
                </a:extLst>
              </a:tr>
              <a:tr h="613279">
                <a:tc>
                  <a:txBody>
                    <a:bodyPr/>
                    <a:lstStyle/>
                    <a:p>
                      <a:r>
                        <a:rPr lang="en-US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0.0966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0.1195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Overall segmentation quality improved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341410"/>
                  </a:ext>
                </a:extLst>
              </a:tr>
              <a:tr h="613279">
                <a:tc>
                  <a:txBody>
                    <a:bodyPr/>
                    <a:lstStyle/>
                    <a:p>
                      <a:r>
                        <a:rPr lang="en-US" err="1"/>
                        <a:t>Percision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0.0519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0.0666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Fewer false positives (improved localization)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267942"/>
                  </a:ext>
                </a:extLst>
              </a:tr>
              <a:tr h="6132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0.8343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0.7675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Model still sensitive, but slightly more selective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025730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26A8ED-540B-A3F7-B11B-2C2632B19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446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DDD89-D9E2-4FD7-71FB-03077D068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1" y="2886"/>
            <a:ext cx="9956747" cy="763591"/>
          </a:xfrm>
        </p:spPr>
        <p:txBody>
          <a:bodyPr/>
          <a:lstStyle/>
          <a:p>
            <a:r>
              <a:rPr lang="en-US"/>
              <a:t>Before Oversampling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03E89EB-8A0D-724C-932E-B0F74493FB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6403" y="763347"/>
            <a:ext cx="8666857" cy="5760856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80EFF1-1928-8705-699D-E45BFF56F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815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X-ray images of a foot and a black background&#10;&#10;AI-generated content may be incorrect.">
            <a:extLst>
              <a:ext uri="{FF2B5EF4-FFF2-40B4-BE49-F238E27FC236}">
                <a16:creationId xmlns:a16="http://schemas.microsoft.com/office/drawing/2014/main" id="{82244837-F61D-E2E6-6CD3-7F1133F6C0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" y="1147"/>
            <a:ext cx="7562850" cy="3752850"/>
          </a:xfrm>
        </p:spPr>
      </p:pic>
      <p:pic>
        <p:nvPicPr>
          <p:cNvPr id="5" name="Picture 4" descr="X-ray of a foot with a green square&#10;&#10;AI-generated content may be incorrect.">
            <a:extLst>
              <a:ext uri="{FF2B5EF4-FFF2-40B4-BE49-F238E27FC236}">
                <a16:creationId xmlns:a16="http://schemas.microsoft.com/office/drawing/2014/main" id="{2E28F2DA-F4D0-3EEA-C09D-CD3137B64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759" y="-1059"/>
            <a:ext cx="2829984" cy="3466396"/>
          </a:xfrm>
          <a:prstGeom prst="rect">
            <a:avLst/>
          </a:prstGeom>
        </p:spPr>
      </p:pic>
      <p:pic>
        <p:nvPicPr>
          <p:cNvPr id="6" name="Picture 5" descr="A x-ray of a foot&#10;&#10;AI-generated content may be incorrect.">
            <a:extLst>
              <a:ext uri="{FF2B5EF4-FFF2-40B4-BE49-F238E27FC236}">
                <a16:creationId xmlns:a16="http://schemas.microsoft.com/office/drawing/2014/main" id="{A0F357AC-EAD7-6BEB-8DE8-5E61141F81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" y="3429353"/>
            <a:ext cx="7562850" cy="3752850"/>
          </a:xfrm>
          <a:prstGeom prst="rect">
            <a:avLst/>
          </a:prstGeom>
        </p:spPr>
      </p:pic>
      <p:pic>
        <p:nvPicPr>
          <p:cNvPr id="8" name="Picture 7" descr="X-ray of a foot with a green square&#10;&#10;AI-generated content may be incorrect.">
            <a:extLst>
              <a:ext uri="{FF2B5EF4-FFF2-40B4-BE49-F238E27FC236}">
                <a16:creationId xmlns:a16="http://schemas.microsoft.com/office/drawing/2014/main" id="{E7DD76FC-E756-42FC-EB6D-4FA47ED008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758" y="3463217"/>
            <a:ext cx="3076929" cy="376978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1CCD4F-12CE-1BF0-82E4-0374C2B91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554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C0D7B-790C-4E8C-471E-E9221BABB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52" y="-62460"/>
            <a:ext cx="9956747" cy="782882"/>
          </a:xfrm>
        </p:spPr>
        <p:txBody>
          <a:bodyPr/>
          <a:lstStyle/>
          <a:p>
            <a:r>
              <a:rPr lang="en-US"/>
              <a:t>After Oversampling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C421E65-FED9-ED20-A408-BE585E74AA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4525" y="718026"/>
            <a:ext cx="9124197" cy="609352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C428A-9B94-5CB2-221F-52514A43C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372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BCD91-BA07-38C6-6709-68B6D62EA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What worked, what didn’t</a:t>
            </a:r>
            <a:endParaRPr lang="en-US"/>
          </a:p>
        </p:txBody>
      </p:sp>
      <p:pic>
        <p:nvPicPr>
          <p:cNvPr id="10" name="Content Placeholder 9" descr="A x-ray of a foot&#10;&#10;AI-generated content may be incorrect.">
            <a:extLst>
              <a:ext uri="{FF2B5EF4-FFF2-40B4-BE49-F238E27FC236}">
                <a16:creationId xmlns:a16="http://schemas.microsoft.com/office/drawing/2014/main" id="{459B5D26-19E0-0758-3D3D-662BB64C8F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" y="3430147"/>
            <a:ext cx="7562850" cy="3752850"/>
          </a:xfrm>
        </p:spPr>
      </p:pic>
      <p:pic>
        <p:nvPicPr>
          <p:cNvPr id="5" name="Picture 4" descr="X-ray of a foot with a green square&#10;&#10;AI-generated content may be incorrect.">
            <a:extLst>
              <a:ext uri="{FF2B5EF4-FFF2-40B4-BE49-F238E27FC236}">
                <a16:creationId xmlns:a16="http://schemas.microsoft.com/office/drawing/2014/main" id="{36B35327-59D4-6ED7-628C-EA91EB573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036" y="-1059"/>
            <a:ext cx="2879373" cy="3572230"/>
          </a:xfrm>
          <a:prstGeom prst="rect">
            <a:avLst/>
          </a:prstGeom>
        </p:spPr>
      </p:pic>
      <p:pic>
        <p:nvPicPr>
          <p:cNvPr id="7" name="Picture 6" descr="X-ray of a foot with a green square&#10;&#10;AI-generated content may be incorrect.">
            <a:extLst>
              <a:ext uri="{FF2B5EF4-FFF2-40B4-BE49-F238E27FC236}">
                <a16:creationId xmlns:a16="http://schemas.microsoft.com/office/drawing/2014/main" id="{BF32D73F-F239-D70A-95DC-DF6628D66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4035" y="3569051"/>
            <a:ext cx="3076929" cy="3769786"/>
          </a:xfrm>
          <a:prstGeom prst="rect">
            <a:avLst/>
          </a:prstGeom>
        </p:spPr>
      </p:pic>
      <p:pic>
        <p:nvPicPr>
          <p:cNvPr id="3" name="Picture 2" descr="A x-ray of a foot&#10;&#10;AI-generated content may be incorrect.">
            <a:extLst>
              <a:ext uri="{FF2B5EF4-FFF2-40B4-BE49-F238E27FC236}">
                <a16:creationId xmlns:a16="http://schemas.microsoft.com/office/drawing/2014/main" id="{E6C6E440-EE96-6EAF-CEC1-62B49AA186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" y="353"/>
            <a:ext cx="7562850" cy="375285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BF423-3047-C654-AF26-6D16853A6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33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0D575-0F65-BDC6-5A9A-3C18339A4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DenseNet121 – Model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C9403-5CC5-513A-1AB4-258F1E180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Architecture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err="1"/>
              <a:t>UNet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ResNet encoder</a:t>
            </a:r>
          </a:p>
          <a:p>
            <a:pPr>
              <a:buFont typeface="Courier New,monospace" panose="020B0604020202020204" pitchFamily="34" charset="0"/>
              <a:buChar char="o"/>
            </a:pPr>
            <a:r>
              <a:rPr lang="en-US"/>
              <a:t>50 Epochs</a:t>
            </a:r>
          </a:p>
          <a:p>
            <a:pPr>
              <a:buFont typeface="Courier New,monospace" panose="020B0604020202020204" pitchFamily="34" charset="0"/>
              <a:buChar char="o"/>
            </a:pPr>
            <a:r>
              <a:rPr lang="en-US"/>
              <a:t>Experiments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No Oversampling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Oversampling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Oversampled &amp; increased certainty threshold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B7E2D8-8A58-75A7-5653-6CA36FF44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011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E418-A2DC-41A6-18A8-61465F129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52" y="-345713"/>
            <a:ext cx="9956747" cy="1438780"/>
          </a:xfrm>
        </p:spPr>
        <p:txBody>
          <a:bodyPr/>
          <a:lstStyle/>
          <a:p>
            <a:r>
              <a:rPr lang="en-US"/>
              <a:t>No Oversampling - DenseNet121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CECCA1B-2EFB-B8C8-AD8E-60CFF855EE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7344" y="1276985"/>
            <a:ext cx="8375935" cy="5570538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00E597-1D04-F6E8-A464-F8C567BB9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489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x-ray of a foot&#10;&#10;AI-generated content may be incorrect.">
            <a:extLst>
              <a:ext uri="{FF2B5EF4-FFF2-40B4-BE49-F238E27FC236}">
                <a16:creationId xmlns:a16="http://schemas.microsoft.com/office/drawing/2014/main" id="{4741C5F2-7CE4-E70F-5FC8-214C2429C9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905" y="-2635"/>
            <a:ext cx="7631586" cy="3717242"/>
          </a:xfrm>
        </p:spPr>
      </p:pic>
      <p:pic>
        <p:nvPicPr>
          <p:cNvPr id="5" name="Picture 4" descr="A x-ray of a foot&#10;&#10;AI-generated content may be incorrect.">
            <a:extLst>
              <a:ext uri="{FF2B5EF4-FFF2-40B4-BE49-F238E27FC236}">
                <a16:creationId xmlns:a16="http://schemas.microsoft.com/office/drawing/2014/main" id="{2B004C7D-6515-E61A-FBEB-905182ED3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13" y="3615856"/>
            <a:ext cx="7621416" cy="3699510"/>
          </a:xfrm>
          <a:prstGeom prst="rect">
            <a:avLst/>
          </a:prstGeom>
        </p:spPr>
      </p:pic>
      <p:pic>
        <p:nvPicPr>
          <p:cNvPr id="9" name="Picture 8" descr="X-ray of a foot with a green square&#10;&#10;AI-generated content may be incorrect.">
            <a:extLst>
              <a:ext uri="{FF2B5EF4-FFF2-40B4-BE49-F238E27FC236}">
                <a16:creationId xmlns:a16="http://schemas.microsoft.com/office/drawing/2014/main" id="{A64CB22F-A0C5-A2E5-B4B0-36218B21C3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369" y="138806"/>
            <a:ext cx="2879373" cy="3572230"/>
          </a:xfrm>
          <a:prstGeom prst="rect">
            <a:avLst/>
          </a:prstGeom>
        </p:spPr>
      </p:pic>
      <p:pic>
        <p:nvPicPr>
          <p:cNvPr id="11" name="Picture 10" descr="X-ray of a foot with a green square&#10;&#10;AI-generated content may be incorrect.">
            <a:extLst>
              <a:ext uri="{FF2B5EF4-FFF2-40B4-BE49-F238E27FC236}">
                <a16:creationId xmlns:a16="http://schemas.microsoft.com/office/drawing/2014/main" id="{9A981DC1-437A-C2C8-74B0-9CA5F2EEDD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2764" y="3618036"/>
            <a:ext cx="2875544" cy="349764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930A85-E065-2656-AA40-C1E5BC428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57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9BC06-C06C-E488-6239-53FD1B254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98" y="-313516"/>
            <a:ext cx="9956747" cy="1438780"/>
          </a:xfrm>
        </p:spPr>
        <p:txBody>
          <a:bodyPr/>
          <a:lstStyle/>
          <a:p>
            <a:r>
              <a:rPr lang="en-US"/>
              <a:t>Oversampled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1E0452A-A1F9-6D9A-1F07-FFAD979AF7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4632" y="1244131"/>
            <a:ext cx="8123376" cy="5447986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A7D156-6466-5F74-7F28-4D91B5333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47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x-ray of a foot&#10;&#10;AI-generated content may be incorrect.">
            <a:extLst>
              <a:ext uri="{FF2B5EF4-FFF2-40B4-BE49-F238E27FC236}">
                <a16:creationId xmlns:a16="http://schemas.microsoft.com/office/drawing/2014/main" id="{E9D6FB49-9E06-7556-7B86-17E590A18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" y="353"/>
            <a:ext cx="7562850" cy="3752850"/>
          </a:xfrm>
          <a:prstGeom prst="rect">
            <a:avLst/>
          </a:prstGeom>
        </p:spPr>
      </p:pic>
      <p:pic>
        <p:nvPicPr>
          <p:cNvPr id="6" name="Picture 5" descr="A x-ray of a foot&#10;&#10;AI-generated content may be incorrect.">
            <a:extLst>
              <a:ext uri="{FF2B5EF4-FFF2-40B4-BE49-F238E27FC236}">
                <a16:creationId xmlns:a16="http://schemas.microsoft.com/office/drawing/2014/main" id="{F3BDE22E-B6AE-3B60-F42F-1EE61272A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" y="3567642"/>
            <a:ext cx="7562850" cy="3752850"/>
          </a:xfrm>
          <a:prstGeom prst="rect">
            <a:avLst/>
          </a:prstGeom>
        </p:spPr>
      </p:pic>
      <p:pic>
        <p:nvPicPr>
          <p:cNvPr id="8" name="Picture 7" descr="X-ray of a foot with a green square&#10;&#10;AI-generated content may be incorrect.">
            <a:extLst>
              <a:ext uri="{FF2B5EF4-FFF2-40B4-BE49-F238E27FC236}">
                <a16:creationId xmlns:a16="http://schemas.microsoft.com/office/drawing/2014/main" id="{59EAB314-8B8B-FFB9-34B6-38834D10D6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369" y="138806"/>
            <a:ext cx="2879373" cy="3572230"/>
          </a:xfrm>
          <a:prstGeom prst="rect">
            <a:avLst/>
          </a:prstGeom>
        </p:spPr>
      </p:pic>
      <p:pic>
        <p:nvPicPr>
          <p:cNvPr id="10" name="Picture 9" descr="X-ray of a foot with a green square&#10;&#10;AI-generated content may be incorrect.">
            <a:extLst>
              <a:ext uri="{FF2B5EF4-FFF2-40B4-BE49-F238E27FC236}">
                <a16:creationId xmlns:a16="http://schemas.microsoft.com/office/drawing/2014/main" id="{9344597B-53AA-4CAD-0B4E-F4379ABD28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2764" y="3618036"/>
            <a:ext cx="2875544" cy="349764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355F3A-22A6-85F9-9DC4-FCA81C419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556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AEF5A-323C-0FE8-A3AD-F23A2DC3E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Oversampled &amp; Increased Threshold</a:t>
            </a:r>
          </a:p>
        </p:txBody>
      </p:sp>
      <p:pic>
        <p:nvPicPr>
          <p:cNvPr id="4" name="Content Placeholder 3" descr="A group of graphs on a white background&#10;&#10;AI-generated content may be incorrect.">
            <a:extLst>
              <a:ext uri="{FF2B5EF4-FFF2-40B4-BE49-F238E27FC236}">
                <a16:creationId xmlns:a16="http://schemas.microsoft.com/office/drawing/2014/main" id="{83F2A362-89F3-B000-904E-B32264166D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0040" y="2306638"/>
            <a:ext cx="5826645" cy="3870325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CA9707-7625-C827-568E-7E563BD1B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01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x-ray of a foot&#10;&#10;AI-generated content may be incorrect.">
            <a:extLst>
              <a:ext uri="{FF2B5EF4-FFF2-40B4-BE49-F238E27FC236}">
                <a16:creationId xmlns:a16="http://schemas.microsoft.com/office/drawing/2014/main" id="{3E2DAE05-60E9-8ABB-2B83-152500689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" y="353"/>
            <a:ext cx="7562850" cy="3752850"/>
          </a:xfrm>
          <a:prstGeom prst="rect">
            <a:avLst/>
          </a:prstGeom>
        </p:spPr>
      </p:pic>
      <p:pic>
        <p:nvPicPr>
          <p:cNvPr id="6" name="Picture 5" descr="A x-ray of a foot&#10;&#10;AI-generated content may be incorrect.">
            <a:extLst>
              <a:ext uri="{FF2B5EF4-FFF2-40B4-BE49-F238E27FC236}">
                <a16:creationId xmlns:a16="http://schemas.microsoft.com/office/drawing/2014/main" id="{006200B0-4A99-CBCE-359E-9009F7747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" y="3629731"/>
            <a:ext cx="7562850" cy="3752850"/>
          </a:xfrm>
          <a:prstGeom prst="rect">
            <a:avLst/>
          </a:prstGeom>
        </p:spPr>
      </p:pic>
      <p:pic>
        <p:nvPicPr>
          <p:cNvPr id="8" name="Picture 7" descr="X-ray of a foot with a green square&#10;&#10;AI-generated content may be incorrect.">
            <a:extLst>
              <a:ext uri="{FF2B5EF4-FFF2-40B4-BE49-F238E27FC236}">
                <a16:creationId xmlns:a16="http://schemas.microsoft.com/office/drawing/2014/main" id="{01897A88-F5B4-DDFC-300D-C0B2CE77B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369" y="138806"/>
            <a:ext cx="2879373" cy="3572230"/>
          </a:xfrm>
          <a:prstGeom prst="rect">
            <a:avLst/>
          </a:prstGeom>
        </p:spPr>
      </p:pic>
      <p:pic>
        <p:nvPicPr>
          <p:cNvPr id="10" name="Picture 9" descr="X-ray of a foot with a green square&#10;&#10;AI-generated content may be incorrect.">
            <a:extLst>
              <a:ext uri="{FF2B5EF4-FFF2-40B4-BE49-F238E27FC236}">
                <a16:creationId xmlns:a16="http://schemas.microsoft.com/office/drawing/2014/main" id="{328C5521-0DED-CF9E-46B5-6430B1286A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2764" y="3618036"/>
            <a:ext cx="2875544" cy="349764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71CDC1-DD69-E238-75FF-52E1D2FE1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036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43E68-507C-0445-96D1-71F21EAB4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04" y="-2277"/>
            <a:ext cx="9956747" cy="1438780"/>
          </a:xfrm>
        </p:spPr>
        <p:txBody>
          <a:bodyPr/>
          <a:lstStyle/>
          <a:p>
            <a:r>
              <a:rPr lang="en-US"/>
              <a:t>Faster R-CNN – Model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65699-8FE3-0C4F-4BEE-BADA13885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226" y="1826077"/>
            <a:ext cx="3131254" cy="36870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 algn="ctr">
              <a:buNone/>
            </a:pPr>
            <a:r>
              <a:rPr lang="en-US"/>
              <a:t>Input Image</a:t>
            </a:r>
            <a:br>
              <a:rPr lang="en-US"/>
            </a:br>
            <a:r>
              <a:rPr lang="en-US" sz="2000"/>
              <a:t>(transformations)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767D5C-7F92-FA64-E5D9-A72E7FA0C1F1}"/>
              </a:ext>
            </a:extLst>
          </p:cNvPr>
          <p:cNvSpPr txBox="1">
            <a:spLocks/>
          </p:cNvSpPr>
          <p:nvPr/>
        </p:nvSpPr>
        <p:spPr>
          <a:xfrm>
            <a:off x="2562223" y="1826168"/>
            <a:ext cx="3538537" cy="38274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>
              <a:buNone/>
            </a:pPr>
            <a:r>
              <a:rPr lang="en-US"/>
              <a:t>RPN</a:t>
            </a:r>
            <a:br>
              <a:rPr lang="en-US"/>
            </a:br>
            <a:r>
              <a:rPr lang="en-US" sz="1800"/>
              <a:t>(Region Proposal Network)</a:t>
            </a:r>
          </a:p>
        </p:txBody>
      </p:sp>
      <p:pic>
        <p:nvPicPr>
          <p:cNvPr id="7" name="Picture 6" descr="A x-ray of a foot&#10;&#10;AI-generated content may be incorrect.">
            <a:extLst>
              <a:ext uri="{FF2B5EF4-FFF2-40B4-BE49-F238E27FC236}">
                <a16:creationId xmlns:a16="http://schemas.microsoft.com/office/drawing/2014/main" id="{44104C7F-4078-7B6F-2446-2867C8473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146" y="2634201"/>
            <a:ext cx="2221617" cy="2877269"/>
          </a:xfrm>
          <a:prstGeom prst="rect">
            <a:avLst/>
          </a:prstGeom>
        </p:spPr>
      </p:pic>
      <p:pic>
        <p:nvPicPr>
          <p:cNvPr id="8" name="Picture 7" descr="X-ray of a foot with green lines&#10;&#10;AI-generated content may be incorrect.">
            <a:extLst>
              <a:ext uri="{FF2B5EF4-FFF2-40B4-BE49-F238E27FC236}">
                <a16:creationId xmlns:a16="http://schemas.microsoft.com/office/drawing/2014/main" id="{E966CFF6-BD92-B611-7239-D4629EB05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793" y="2517520"/>
            <a:ext cx="2490789" cy="2995613"/>
          </a:xfrm>
          <a:prstGeom prst="rect">
            <a:avLst/>
          </a:prstGeom>
        </p:spPr>
      </p:pic>
      <p:pic>
        <p:nvPicPr>
          <p:cNvPr id="9" name="Picture 8" descr="A x-ray of a person&amp;#39;s body&#10;&#10;AI-generated content may be incorrect.">
            <a:extLst>
              <a:ext uri="{FF2B5EF4-FFF2-40B4-BE49-F238E27FC236}">
                <a16:creationId xmlns:a16="http://schemas.microsoft.com/office/drawing/2014/main" id="{7E61D3D1-75D7-37C3-1B78-89965C3B69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8256" y="2517520"/>
            <a:ext cx="2316958" cy="28646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E1A7A7-3AB5-B8B3-CC68-7972554F822B}"/>
              </a:ext>
            </a:extLst>
          </p:cNvPr>
          <p:cNvSpPr txBox="1"/>
          <p:nvPr/>
        </p:nvSpPr>
        <p:spPr>
          <a:xfrm>
            <a:off x="8455569" y="1829954"/>
            <a:ext cx="312408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Classification + Bounding</a:t>
            </a:r>
            <a:br>
              <a:rPr lang="en-US"/>
            </a:br>
            <a:r>
              <a:rPr lang="en-US"/>
              <a:t>Box Regression</a:t>
            </a:r>
          </a:p>
        </p:txBody>
      </p:sp>
      <p:pic>
        <p:nvPicPr>
          <p:cNvPr id="12" name="Picture 11" descr="A x-ray of a foot&#10;&#10;AI-generated content may be incorrect.">
            <a:extLst>
              <a:ext uri="{FF2B5EF4-FFF2-40B4-BE49-F238E27FC236}">
                <a16:creationId xmlns:a16="http://schemas.microsoft.com/office/drawing/2014/main" id="{D073DDCE-67DA-519F-FFF3-6795672A66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157" t="25207" r="33380" b="55720"/>
          <a:stretch/>
        </p:blipFill>
        <p:spPr>
          <a:xfrm>
            <a:off x="6092094" y="2622218"/>
            <a:ext cx="2357074" cy="2759950"/>
          </a:xfrm>
          <a:prstGeom prst="rect">
            <a:avLst/>
          </a:prstGeom>
          <a:ln w="57150">
            <a:solidFill>
              <a:srgbClr val="00D703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FF425D9-655B-67E7-10F5-08854FC881AE}"/>
              </a:ext>
            </a:extLst>
          </p:cNvPr>
          <p:cNvSpPr txBox="1"/>
          <p:nvPr/>
        </p:nvSpPr>
        <p:spPr>
          <a:xfrm>
            <a:off x="6103323" y="1836125"/>
            <a:ext cx="2365102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err="1"/>
              <a:t>RoI</a:t>
            </a:r>
            <a:r>
              <a:rPr lang="en-US" sz="2000"/>
              <a:t> Pooling</a:t>
            </a:r>
            <a:br>
              <a:rPr lang="en-US"/>
            </a:br>
            <a:r>
              <a:rPr lang="en-US"/>
              <a:t>(Region of Interest)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E28A699-A3B0-7C89-539D-9B5FC8C51431}"/>
              </a:ext>
            </a:extLst>
          </p:cNvPr>
          <p:cNvCxnSpPr/>
          <p:nvPr/>
        </p:nvCxnSpPr>
        <p:spPr>
          <a:xfrm>
            <a:off x="849715" y="5725884"/>
            <a:ext cx="10385129" cy="19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C6F3F9-2787-5CD6-437E-506DCF57A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442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4C10B-9C37-5351-605E-560F7D152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5578B-C7A8-8FBA-B9DC-695FFF0F9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172" y="155409"/>
            <a:ext cx="10515600" cy="1201995"/>
          </a:xfrm>
        </p:spPr>
        <p:txBody>
          <a:bodyPr/>
          <a:lstStyle/>
          <a:p>
            <a:r>
              <a:rPr lang="en-US"/>
              <a:t>Faster R-CNN - Getting the model to work.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EC136-3111-23E7-7712-7021FE3E6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4579" y="1732949"/>
            <a:ext cx="4814287" cy="44440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000">
                <a:latin typeface="Consolas"/>
              </a:rPr>
              <a:t>IMG00000019.jpg targets: </a:t>
            </a:r>
            <a:br>
              <a:rPr lang="en-US" sz="1000">
                <a:latin typeface="Consolas"/>
              </a:rPr>
            </a:br>
            <a:r>
              <a:rPr lang="en-US" sz="1000">
                <a:latin typeface="Consolas"/>
              </a:rPr>
              <a:t>{'boxes': </a:t>
            </a:r>
            <a:br>
              <a:rPr lang="en-US" sz="1000">
                <a:latin typeface="Consolas"/>
              </a:rPr>
            </a:br>
            <a:r>
              <a:rPr lang="en-US" sz="1000">
                <a:latin typeface="Consolas"/>
              </a:rPr>
              <a:t>  tensor([[1312.5719,  770.1890, 1458.5210,  858.1101],
          [ 470.2876,  750.8463,  596.8940,  842.2843]]), </a:t>
            </a:r>
            <a:br>
              <a:rPr lang="en-US" sz="1000">
                <a:latin typeface="Consolas"/>
              </a:rPr>
            </a:br>
            <a:r>
              <a:rPr lang="en-US" sz="1000">
                <a:latin typeface="Consolas"/>
              </a:rPr>
              <a:t> 'labels': tensor([1, 1])</a:t>
            </a:r>
            <a:br>
              <a:rPr lang="en-US" sz="1000">
                <a:latin typeface="Consolas"/>
              </a:rPr>
            </a:br>
            <a:r>
              <a:rPr lang="en-US" sz="1000">
                <a:latin typeface="Consolas"/>
              </a:rPr>
              <a:t>}</a:t>
            </a:r>
          </a:p>
          <a:p>
            <a:pPr marL="0" indent="0">
              <a:buNone/>
            </a:pPr>
            <a:endParaRPr lang="en-US" sz="1000">
              <a:latin typeface="Consolas"/>
            </a:endParaRPr>
          </a:p>
          <a:p>
            <a:pPr>
              <a:buNone/>
            </a:pPr>
            <a:endParaRPr lang="en-US" sz="1000">
              <a:latin typeface="Consolas"/>
            </a:endParaRPr>
          </a:p>
          <a:p>
            <a:pPr marL="0" indent="0">
              <a:buNone/>
            </a:pPr>
            <a:endParaRPr lang="en-US" sz="1000">
              <a:latin typeface="Consola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1CCD53-C282-CE28-816B-B38C7CECDFCD}"/>
              </a:ext>
            </a:extLst>
          </p:cNvPr>
          <p:cNvSpPr txBox="1"/>
          <p:nvPr/>
        </p:nvSpPr>
        <p:spPr>
          <a:xfrm>
            <a:off x="180982" y="1309972"/>
            <a:ext cx="5562750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latin typeface="Consolas"/>
                <a:ea typeface="+mn-lt"/>
                <a:cs typeface="+mn-lt"/>
              </a:rPr>
              <a:t>{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   "id": 19,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   "</a:t>
            </a:r>
            <a:r>
              <a:rPr lang="en-US" sz="1000" err="1">
                <a:latin typeface="Consolas"/>
                <a:ea typeface="+mn-lt"/>
                <a:cs typeface="+mn-lt"/>
              </a:rPr>
              <a:t>iscrowd</a:t>
            </a:r>
            <a:r>
              <a:rPr lang="en-US" sz="1000">
                <a:latin typeface="Consolas"/>
                <a:ea typeface="+mn-lt"/>
                <a:cs typeface="+mn-lt"/>
              </a:rPr>
              <a:t>": 0,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   "</a:t>
            </a:r>
            <a:r>
              <a:rPr lang="en-US" sz="1000" err="1">
                <a:latin typeface="Consolas"/>
                <a:ea typeface="+mn-lt"/>
                <a:cs typeface="+mn-lt"/>
              </a:rPr>
              <a:t>image_id</a:t>
            </a:r>
            <a:r>
              <a:rPr lang="en-US" sz="1000">
                <a:latin typeface="Consolas"/>
                <a:ea typeface="+mn-lt"/>
                <a:cs typeface="+mn-lt"/>
              </a:rPr>
              <a:t>": 20,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   "</a:t>
            </a:r>
            <a:r>
              <a:rPr lang="en-US" sz="1000" err="1">
                <a:latin typeface="Consolas"/>
                <a:ea typeface="+mn-lt"/>
                <a:cs typeface="+mn-lt"/>
              </a:rPr>
              <a:t>category_id</a:t>
            </a:r>
            <a:r>
              <a:rPr lang="en-US" sz="1000">
                <a:latin typeface="Consolas"/>
                <a:ea typeface="+mn-lt"/>
                <a:cs typeface="+mn-lt"/>
              </a:rPr>
              <a:t>": 0,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   "segmentation": [[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       1435.6614626129829, 775.4642563681184, 1367.0829909613806,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       770.1889893179952, 1312.5718981101068, 793.0484798685292,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       1314.330320460148, 858.1101068200494, 1379.391947411668,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       851.076417419885, 1451.4872637633525, 847.5595727198029,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       1458.5209531635169, 791.2900575184881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     ]],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   "</a:t>
            </a:r>
            <a:r>
              <a:rPr lang="en-US" sz="1000" err="1">
                <a:latin typeface="Consolas"/>
                <a:ea typeface="+mn-lt"/>
                <a:cs typeface="+mn-lt"/>
              </a:rPr>
              <a:t>bbox</a:t>
            </a:r>
            <a:r>
              <a:rPr lang="en-US" sz="1000">
                <a:latin typeface="Consolas"/>
                <a:ea typeface="+mn-lt"/>
                <a:cs typeface="+mn-lt"/>
              </a:rPr>
              <a:t>": [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     1312.5718981101068, 770.1889893179952, 145.94905505341012,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     87.92111750205424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   ],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   "area": 10534.611491949487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 },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 {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   "id": 20,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   "</a:t>
            </a:r>
            <a:r>
              <a:rPr lang="en-US" sz="1000" err="1">
                <a:latin typeface="Consolas"/>
                <a:ea typeface="+mn-lt"/>
                <a:cs typeface="+mn-lt"/>
              </a:rPr>
              <a:t>iscrowd</a:t>
            </a:r>
            <a:r>
              <a:rPr lang="en-US" sz="1000">
                <a:latin typeface="Consolas"/>
                <a:ea typeface="+mn-lt"/>
                <a:cs typeface="+mn-lt"/>
              </a:rPr>
              <a:t>": 0,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   "</a:t>
            </a:r>
            <a:r>
              <a:rPr lang="en-US" sz="1000" err="1">
                <a:latin typeface="Consolas"/>
                <a:ea typeface="+mn-lt"/>
                <a:cs typeface="+mn-lt"/>
              </a:rPr>
              <a:t>image_id</a:t>
            </a:r>
            <a:r>
              <a:rPr lang="en-US" sz="1000">
                <a:latin typeface="Consolas"/>
                <a:ea typeface="+mn-lt"/>
                <a:cs typeface="+mn-lt"/>
              </a:rPr>
              <a:t>": 20,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   "</a:t>
            </a:r>
            <a:r>
              <a:rPr lang="en-US" sz="1000" err="1">
                <a:latin typeface="Consolas"/>
                <a:ea typeface="+mn-lt"/>
                <a:cs typeface="+mn-lt"/>
              </a:rPr>
              <a:t>category_id</a:t>
            </a:r>
            <a:r>
              <a:rPr lang="en-US" sz="1000">
                <a:latin typeface="Consolas"/>
                <a:ea typeface="+mn-lt"/>
                <a:cs typeface="+mn-lt"/>
              </a:rPr>
              <a:t>": 0,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   "segmentation": [[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       570.5176663927691, 750.8463434675432, 494.9055053410025,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       761.3968775677897, 470.28759244042726, 829.975349219392,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       505.45603944124895, 842.2843056696796, 575.7929334428924,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       822.9416598192277, 596.8940016433854, 778.9811010682005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     ]],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   "</a:t>
            </a:r>
            <a:r>
              <a:rPr lang="en-US" sz="1000" err="1">
                <a:latin typeface="Consolas"/>
                <a:ea typeface="+mn-lt"/>
                <a:cs typeface="+mn-lt"/>
              </a:rPr>
              <a:t>bbox</a:t>
            </a:r>
            <a:r>
              <a:rPr lang="en-US" sz="1000">
                <a:latin typeface="Consolas"/>
                <a:ea typeface="+mn-lt"/>
                <a:cs typeface="+mn-lt"/>
              </a:rPr>
              <a:t>": [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     470.28759244042726, 750.8463434675432, 126.60640920295816,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     91.43796220213642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   ],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   "area": 7934.198147444215</a:t>
            </a:r>
            <a:endParaRPr lang="en-US" sz="1000">
              <a:latin typeface="Consolas"/>
            </a:endParaRPr>
          </a:p>
          <a:p>
            <a:r>
              <a:rPr lang="en-US" sz="1000">
                <a:latin typeface="Consolas"/>
                <a:ea typeface="+mn-lt"/>
                <a:cs typeface="+mn-lt"/>
              </a:rPr>
              <a:t>    },</a:t>
            </a:r>
            <a:endParaRPr lang="en-US" sz="1000">
              <a:latin typeface="Consolas"/>
            </a:endParaRPr>
          </a:p>
          <a:p>
            <a:pPr algn="l"/>
            <a:r>
              <a:rPr lang="en-US" sz="1000">
                <a:latin typeface="Consolas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911F6C-28B1-1E2C-DD50-DC6105CF77EF}"/>
              </a:ext>
            </a:extLst>
          </p:cNvPr>
          <p:cNvSpPr txBox="1"/>
          <p:nvPr/>
        </p:nvSpPr>
        <p:spPr>
          <a:xfrm>
            <a:off x="1376977" y="1174892"/>
            <a:ext cx="436669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Out-of-the-box annotations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B1461E-5665-8689-1CB9-10AB43BFCC9C}"/>
              </a:ext>
            </a:extLst>
          </p:cNvPr>
          <p:cNvSpPr txBox="1"/>
          <p:nvPr/>
        </p:nvSpPr>
        <p:spPr>
          <a:xfrm>
            <a:off x="6253741" y="1297100"/>
            <a:ext cx="3876355" cy="3796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Faster R-CNN "Targets"</a:t>
            </a:r>
          </a:p>
        </p:txBody>
      </p:sp>
      <p:pic>
        <p:nvPicPr>
          <p:cNvPr id="7" name="Picture 6" descr="X-ray of a hand and a hand&#10;&#10;AI-generated content may be incorrect.">
            <a:extLst>
              <a:ext uri="{FF2B5EF4-FFF2-40B4-BE49-F238E27FC236}">
                <a16:creationId xmlns:a16="http://schemas.microsoft.com/office/drawing/2014/main" id="{BF8A285B-74EA-0029-BE78-7648A2A6D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257" y="2857370"/>
            <a:ext cx="4818620" cy="3727879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76A8FD-0C9D-35EB-683B-AE4298583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170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5B898-C808-1A1B-8EB1-DEC7119AD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1B99E-9DC7-AAC3-9F0B-B3A00A333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52" y="-388643"/>
            <a:ext cx="9956747" cy="1438780"/>
          </a:xfrm>
        </p:spPr>
        <p:txBody>
          <a:bodyPr/>
          <a:lstStyle/>
          <a:p>
            <a:r>
              <a:rPr lang="en-US"/>
              <a:t>Faster R-CNN - Training</a:t>
            </a:r>
          </a:p>
        </p:txBody>
      </p:sp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2951F35-D100-83F3-91B1-D8831F9224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1703" y="1933597"/>
            <a:ext cx="3981674" cy="4114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32F739-BC44-057D-606F-EE0BDA4D828B}"/>
              </a:ext>
            </a:extLst>
          </p:cNvPr>
          <p:cNvSpPr txBox="1"/>
          <p:nvPr/>
        </p:nvSpPr>
        <p:spPr>
          <a:xfrm>
            <a:off x="1865238" y="1518134"/>
            <a:ext cx="17782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Epoch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EB4F3B-80DF-6AAB-311F-7FA3364A5EBF}"/>
              </a:ext>
            </a:extLst>
          </p:cNvPr>
          <p:cNvSpPr txBox="1"/>
          <p:nvPr/>
        </p:nvSpPr>
        <p:spPr>
          <a:xfrm>
            <a:off x="7714102" y="1229810"/>
            <a:ext cx="263295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Epoch 2</a:t>
            </a:r>
            <a:br>
              <a:rPr lang="en-US" b="1"/>
            </a:br>
            <a:r>
              <a:rPr lang="en-US" b="1"/>
              <a:t>Underfitted</a:t>
            </a:r>
          </a:p>
        </p:txBody>
      </p:sp>
      <p:pic>
        <p:nvPicPr>
          <p:cNvPr id="8" name="Picture 7" descr="X-ray of a hand with a ring around it&#10;&#10;AI-generated content may be incorrect.">
            <a:extLst>
              <a:ext uri="{FF2B5EF4-FFF2-40B4-BE49-F238E27FC236}">
                <a16:creationId xmlns:a16="http://schemas.microsoft.com/office/drawing/2014/main" id="{295AA019-5A34-76DF-1DE4-FCFEEBD7B9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050" t="22158" r="48203" b="46697"/>
          <a:stretch/>
        </p:blipFill>
        <p:spPr>
          <a:xfrm>
            <a:off x="6034996" y="1962408"/>
            <a:ext cx="1357704" cy="2135925"/>
          </a:xfrm>
          <a:prstGeom prst="rect">
            <a:avLst/>
          </a:prstGeom>
        </p:spPr>
      </p:pic>
      <p:pic>
        <p:nvPicPr>
          <p:cNvPr id="9" name="Picture 8" descr="X-ray of a broken leg&#10;&#10;AI-generated content may be incorrect.">
            <a:extLst>
              <a:ext uri="{FF2B5EF4-FFF2-40B4-BE49-F238E27FC236}">
                <a16:creationId xmlns:a16="http://schemas.microsoft.com/office/drawing/2014/main" id="{DB2C9929-A212-07B5-88AF-BC36640F51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722" y="1936149"/>
            <a:ext cx="3552825" cy="4324350"/>
          </a:xfrm>
          <a:prstGeom prst="rect">
            <a:avLst/>
          </a:prstGeom>
        </p:spPr>
      </p:pic>
      <p:pic>
        <p:nvPicPr>
          <p:cNvPr id="10" name="Picture 9" descr="A x-ray of a person&amp;#39;s chest&#10;&#10;AI-generated content may be incorrect.">
            <a:extLst>
              <a:ext uri="{FF2B5EF4-FFF2-40B4-BE49-F238E27FC236}">
                <a16:creationId xmlns:a16="http://schemas.microsoft.com/office/drawing/2014/main" id="{4DE22023-97ED-78F5-A8A6-6AB55534723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0870" r="-201" b="51080"/>
          <a:stretch/>
        </p:blipFill>
        <p:spPr>
          <a:xfrm>
            <a:off x="5658236" y="4242744"/>
            <a:ext cx="2107941" cy="2115485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AA2D6-465B-30F3-0B15-9DFE94E00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82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66BB1-870E-9BB7-9BE7-5A7E91B39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F7299-33B9-F8E3-9B4A-7053D824D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52" y="-227657"/>
            <a:ext cx="9956747" cy="1438780"/>
          </a:xfrm>
        </p:spPr>
        <p:txBody>
          <a:bodyPr/>
          <a:lstStyle/>
          <a:p>
            <a:r>
              <a:rPr lang="en-US"/>
              <a:t>Faster R-CNN - Training</a:t>
            </a:r>
          </a:p>
        </p:txBody>
      </p:sp>
      <p:pic>
        <p:nvPicPr>
          <p:cNvPr id="11" name="Content Placeholder 10" descr="An x-ray of a hand&#10;&#10;AI-generated content may be incorrect.">
            <a:extLst>
              <a:ext uri="{FF2B5EF4-FFF2-40B4-BE49-F238E27FC236}">
                <a16:creationId xmlns:a16="http://schemas.microsoft.com/office/drawing/2014/main" id="{6C5BFCD2-E507-59B6-6B7C-393AF87904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5884" t="27506" r="44534" b="47172"/>
          <a:stretch/>
        </p:blipFill>
        <p:spPr>
          <a:xfrm>
            <a:off x="547405" y="2191030"/>
            <a:ext cx="1899828" cy="2030138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304412-E55D-AFA8-4659-8BB1533AF60F}"/>
              </a:ext>
            </a:extLst>
          </p:cNvPr>
          <p:cNvSpPr txBox="1"/>
          <p:nvPr/>
        </p:nvSpPr>
        <p:spPr>
          <a:xfrm>
            <a:off x="4491047" y="1518134"/>
            <a:ext cx="359060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Epoch 200 - Overfitted</a:t>
            </a:r>
            <a:endParaRPr lang="en-US"/>
          </a:p>
        </p:txBody>
      </p:sp>
      <p:pic>
        <p:nvPicPr>
          <p:cNvPr id="12" name="Picture 11" descr="X-ray of a leg with a fracture&#10;&#10;AI-generated content may be incorrect.">
            <a:extLst>
              <a:ext uri="{FF2B5EF4-FFF2-40B4-BE49-F238E27FC236}">
                <a16:creationId xmlns:a16="http://schemas.microsoft.com/office/drawing/2014/main" id="{619D08E5-A423-74DC-EEDB-9D7861A10F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843" t="11310" r="15227" b="41950"/>
          <a:stretch/>
        </p:blipFill>
        <p:spPr>
          <a:xfrm>
            <a:off x="3051300" y="2193332"/>
            <a:ext cx="1773914" cy="2021201"/>
          </a:xfrm>
          <a:prstGeom prst="rect">
            <a:avLst/>
          </a:prstGeom>
        </p:spPr>
      </p:pic>
      <p:pic>
        <p:nvPicPr>
          <p:cNvPr id="13" name="Picture 12" descr="X-ray of a human arm&#10;&#10;AI-generated content may be incorrect.">
            <a:extLst>
              <a:ext uri="{FF2B5EF4-FFF2-40B4-BE49-F238E27FC236}">
                <a16:creationId xmlns:a16="http://schemas.microsoft.com/office/drawing/2014/main" id="{DF9FDF1E-6388-C243-F3D2-C367840BDE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971" t="22788" r="-2018" b="30476"/>
          <a:stretch/>
        </p:blipFill>
        <p:spPr>
          <a:xfrm>
            <a:off x="272750" y="4586542"/>
            <a:ext cx="2986033" cy="2020980"/>
          </a:xfrm>
          <a:prstGeom prst="rect">
            <a:avLst/>
          </a:prstGeom>
        </p:spPr>
      </p:pic>
      <p:pic>
        <p:nvPicPr>
          <p:cNvPr id="14" name="Picture 13" descr="X-ray of a hand&#10;&#10;AI-generated content may be incorrect.">
            <a:extLst>
              <a:ext uri="{FF2B5EF4-FFF2-40B4-BE49-F238E27FC236}">
                <a16:creationId xmlns:a16="http://schemas.microsoft.com/office/drawing/2014/main" id="{C44ED544-6310-3D12-8E0F-D00AC9802A6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9240" t="24708" r="6553" b="31006"/>
          <a:stretch/>
        </p:blipFill>
        <p:spPr>
          <a:xfrm>
            <a:off x="3547290" y="4644339"/>
            <a:ext cx="1925904" cy="1915112"/>
          </a:xfrm>
          <a:prstGeom prst="rect">
            <a:avLst/>
          </a:prstGeom>
        </p:spPr>
      </p:pic>
      <p:pic>
        <p:nvPicPr>
          <p:cNvPr id="15" name="Picture 14" descr="A graph with red dots and blue lines&#10;&#10;AI-generated content may be incorrect.">
            <a:extLst>
              <a:ext uri="{FF2B5EF4-FFF2-40B4-BE49-F238E27FC236}">
                <a16:creationId xmlns:a16="http://schemas.microsoft.com/office/drawing/2014/main" id="{9656101A-5689-D148-DEC9-E42DEB6958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6744" y="2058171"/>
            <a:ext cx="6033702" cy="409060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49E423-8495-2AB0-D2C2-AECBE2D05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1594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479E6-DBBB-8FCC-D6BE-534BD20CD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631C1-97E2-B334-D80E-2040580F8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52" y="-324249"/>
            <a:ext cx="9956747" cy="1438780"/>
          </a:xfrm>
        </p:spPr>
        <p:txBody>
          <a:bodyPr/>
          <a:lstStyle/>
          <a:p>
            <a:r>
              <a:rPr lang="en-US"/>
              <a:t>Faster R-CNN - Performance</a:t>
            </a:r>
          </a:p>
        </p:txBody>
      </p:sp>
      <p:pic>
        <p:nvPicPr>
          <p:cNvPr id="6" name="Content Placeholder 5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B5361CCC-9CE1-BE9B-830D-8FA31EA1F3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1526" y="2360300"/>
            <a:ext cx="5827561" cy="3870325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5E2F7C-F1F7-68FE-DDD7-143D79699EBA}"/>
              </a:ext>
            </a:extLst>
          </p:cNvPr>
          <p:cNvSpPr txBox="1"/>
          <p:nvPr/>
        </p:nvSpPr>
        <p:spPr>
          <a:xfrm>
            <a:off x="4491047" y="1518134"/>
            <a:ext cx="359060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Epoch 20 – Sweet spot</a:t>
            </a:r>
            <a:endParaRPr lang="en-US"/>
          </a:p>
        </p:txBody>
      </p:sp>
      <p:pic>
        <p:nvPicPr>
          <p:cNvPr id="7" name="Picture 6" descr="X-ray of a hand&#10;&#10;AI-generated content may be incorrect.">
            <a:extLst>
              <a:ext uri="{FF2B5EF4-FFF2-40B4-BE49-F238E27FC236}">
                <a16:creationId xmlns:a16="http://schemas.microsoft.com/office/drawing/2014/main" id="{79229E44-6514-0686-401E-C777C0387C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412" t="8318" r="23768" b="43675"/>
          <a:stretch/>
        </p:blipFill>
        <p:spPr>
          <a:xfrm>
            <a:off x="363089" y="2212682"/>
            <a:ext cx="1876581" cy="2075952"/>
          </a:xfrm>
          <a:prstGeom prst="rect">
            <a:avLst/>
          </a:prstGeom>
        </p:spPr>
      </p:pic>
      <p:pic>
        <p:nvPicPr>
          <p:cNvPr id="8" name="Picture 7" descr="X-ray of a hand&#10;&#10;AI-generated content may be incorrect.">
            <a:extLst>
              <a:ext uri="{FF2B5EF4-FFF2-40B4-BE49-F238E27FC236}">
                <a16:creationId xmlns:a16="http://schemas.microsoft.com/office/drawing/2014/main" id="{E71AA8EC-E8AD-1223-0667-3E0BA95E8B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580" t="25908" r="21449" b="39857"/>
          <a:stretch/>
        </p:blipFill>
        <p:spPr>
          <a:xfrm>
            <a:off x="3053020" y="2508230"/>
            <a:ext cx="2059611" cy="1480432"/>
          </a:xfrm>
          <a:prstGeom prst="rect">
            <a:avLst/>
          </a:prstGeom>
        </p:spPr>
      </p:pic>
      <p:pic>
        <p:nvPicPr>
          <p:cNvPr id="9" name="Picture 8" descr="X-ray of a foot&#10;&#10;AI-generated content may be incorrect.">
            <a:extLst>
              <a:ext uri="{FF2B5EF4-FFF2-40B4-BE49-F238E27FC236}">
                <a16:creationId xmlns:a16="http://schemas.microsoft.com/office/drawing/2014/main" id="{D8E4DAAE-F416-619D-2069-6668B7F6149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040" t="19570" r="6395" b="52029"/>
          <a:stretch/>
        </p:blipFill>
        <p:spPr>
          <a:xfrm>
            <a:off x="228046" y="5200392"/>
            <a:ext cx="2151747" cy="1228158"/>
          </a:xfrm>
          <a:prstGeom prst="rect">
            <a:avLst/>
          </a:prstGeom>
        </p:spPr>
      </p:pic>
      <p:pic>
        <p:nvPicPr>
          <p:cNvPr id="10" name="Picture 9" descr="X-ray of a hand and a broken hand&#10;&#10;AI-generated content may be incorrect.">
            <a:extLst>
              <a:ext uri="{FF2B5EF4-FFF2-40B4-BE49-F238E27FC236}">
                <a16:creationId xmlns:a16="http://schemas.microsoft.com/office/drawing/2014/main" id="{CE90F9D2-9198-5E39-4A3F-2C71FF74FA2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3628" t="12044" r="-1796" b="42319"/>
          <a:stretch/>
        </p:blipFill>
        <p:spPr>
          <a:xfrm>
            <a:off x="2512798" y="4809241"/>
            <a:ext cx="3380271" cy="162141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254E9-043C-87EA-E0C8-A8F5352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3617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9CA39-14DC-CBCD-3689-8D3B47DA7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E9CA1-6B80-2ED8-7F44-8FF0AC7E1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52" y="-184728"/>
            <a:ext cx="9956747" cy="1438780"/>
          </a:xfrm>
        </p:spPr>
        <p:txBody>
          <a:bodyPr/>
          <a:lstStyle/>
          <a:p>
            <a:r>
              <a:rPr lang="en-US"/>
              <a:t>Faster R-CNN (end)</a:t>
            </a:r>
          </a:p>
        </p:txBody>
      </p:sp>
      <p:pic>
        <p:nvPicPr>
          <p:cNvPr id="4" name="Content Placeholder 3" descr="A graph with a line&#10;&#10;AI-generated content may be incorrect.">
            <a:extLst>
              <a:ext uri="{FF2B5EF4-FFF2-40B4-BE49-F238E27FC236}">
                <a16:creationId xmlns:a16="http://schemas.microsoft.com/office/drawing/2014/main" id="{D55F515E-C94F-A3B5-BEB3-380FD1A87F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86" y="1696758"/>
            <a:ext cx="6191599" cy="4650259"/>
          </a:xfrm>
        </p:spPr>
      </p:pic>
      <p:pic>
        <p:nvPicPr>
          <p:cNvPr id="5" name="Picture 4" descr="A graph with blue and red lines&#10;&#10;AI-generated content may be incorrect.">
            <a:extLst>
              <a:ext uri="{FF2B5EF4-FFF2-40B4-BE49-F238E27FC236}">
                <a16:creationId xmlns:a16="http://schemas.microsoft.com/office/drawing/2014/main" id="{035C302A-AE57-6EB7-A998-F2C688892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70" y="1690043"/>
            <a:ext cx="5890311" cy="465180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73963-82B7-66D6-A255-A97E91DDD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1162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20C24-5B62-7D13-9E1F-FBD0CD5A7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YOLOv8 – Model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0EF29-DF53-9964-F2B8-6A26FC893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Developer</a:t>
            </a:r>
            <a:r>
              <a:rPr lang="en-US">
                <a:ea typeface="+mn-lt"/>
                <a:cs typeface="+mn-lt"/>
              </a:rPr>
              <a:t>: </a:t>
            </a:r>
            <a:r>
              <a:rPr lang="en-US" err="1">
                <a:ea typeface="+mn-lt"/>
                <a:cs typeface="+mn-lt"/>
              </a:rPr>
              <a:t>Ultralytics</a:t>
            </a:r>
            <a:r>
              <a:rPr lang="en-US">
                <a:ea typeface="+mn-lt"/>
                <a:cs typeface="+mn-lt"/>
              </a:rPr>
              <a:t> (released in 2023)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Task</a:t>
            </a:r>
            <a:r>
              <a:rPr lang="en-US">
                <a:ea typeface="+mn-lt"/>
                <a:cs typeface="+mn-lt"/>
              </a:rPr>
              <a:t>: Real-time object detection, classification, segmentation, and pose estimation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Architecture</a:t>
            </a:r>
            <a:r>
              <a:rPr lang="en-US">
                <a:ea typeface="+mn-lt"/>
                <a:cs typeface="+mn-lt"/>
              </a:rPr>
              <a:t>: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Anchor-free detection head (simpler and more efficient)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>
                <a:ea typeface="+mn-lt"/>
                <a:cs typeface="+mn-lt"/>
              </a:rPr>
              <a:t>CSPDarknet</a:t>
            </a:r>
            <a:r>
              <a:rPr lang="en-US">
                <a:ea typeface="+mn-lt"/>
                <a:cs typeface="+mn-lt"/>
              </a:rPr>
              <a:t>-based backbone with improvements for speed and accuracy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Key Features</a:t>
            </a:r>
            <a:r>
              <a:rPr lang="en-US">
                <a:ea typeface="+mn-lt"/>
                <a:cs typeface="+mn-lt"/>
              </a:rPr>
              <a:t>: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Supports multiple tasks (detection, segmentation, classification, pose)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High performance with low latency — suitable for real-time use</a:t>
            </a:r>
            <a:endParaRPr lang="en-US"/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6ED625-4BD7-4813-9525-7C9EE4D5E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1897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7C447-4BA1-BADC-FF92-A0398CDCF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84" y="-120333"/>
            <a:ext cx="9956747" cy="1438780"/>
          </a:xfrm>
        </p:spPr>
        <p:txBody>
          <a:bodyPr/>
          <a:lstStyle/>
          <a:p>
            <a:r>
              <a:rPr lang="en-US"/>
              <a:t>YOLOv8 – 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FE857-243F-B01C-5FAF-243137372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>
                <a:ea typeface="+mn-lt"/>
                <a:cs typeface="+mn-lt"/>
              </a:rPr>
              <a:t>Applied </a:t>
            </a:r>
            <a:r>
              <a:rPr lang="en-US" sz="2800">
                <a:latin typeface="Neue Haas Grotesk Text Pro"/>
                <a:ea typeface="+mn-lt"/>
                <a:cs typeface="+mn-lt"/>
              </a:rPr>
              <a:t>Contrast Limited Adaptive Histogram Equalization</a:t>
            </a:r>
            <a:r>
              <a:rPr lang="en-US" sz="2800">
                <a:latin typeface="Aptos"/>
                <a:ea typeface="+mn-lt"/>
                <a:cs typeface="+mn-lt"/>
              </a:rPr>
              <a:t> </a:t>
            </a:r>
            <a:r>
              <a:rPr lang="en-US" sz="2800">
                <a:ea typeface="+mn-lt"/>
                <a:cs typeface="+mn-lt"/>
              </a:rPr>
              <a:t> (CLAHE) to enhance local contrast.</a:t>
            </a:r>
            <a:endParaRPr lang="en-US" sz="2800"/>
          </a:p>
          <a:p>
            <a:r>
              <a:rPr lang="en-US" sz="2800">
                <a:ea typeface="+mn-lt"/>
                <a:cs typeface="+mn-lt"/>
              </a:rPr>
              <a:t>Oversampled fracture images (4x duplication).</a:t>
            </a:r>
            <a:endParaRPr lang="en-US" sz="2800"/>
          </a:p>
          <a:p>
            <a:r>
              <a:rPr lang="en-US" sz="2800">
                <a:ea typeface="+mn-lt"/>
                <a:cs typeface="+mn-lt"/>
              </a:rPr>
              <a:t>Structured in YOLOv8 format.</a:t>
            </a:r>
            <a:endParaRPr lang="en-US" sz="2800"/>
          </a:p>
          <a:p>
            <a:endParaRPr lang="en-US" sz="28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4FD434-5CD8-4BF0-97FD-AE1EE9F3B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565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5B70F-791A-25BB-5CBC-33E8B51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YOLOv8 – Training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5740E-24FF-B479-BA09-A3303B737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300" err="1">
                <a:ea typeface="+mn-lt"/>
                <a:cs typeface="+mn-lt"/>
              </a:rPr>
              <a:t>Ultralytics</a:t>
            </a:r>
            <a:r>
              <a:rPr lang="en-US" sz="2300">
                <a:ea typeface="+mn-lt"/>
                <a:cs typeface="+mn-lt"/>
              </a:rPr>
              <a:t> library</a:t>
            </a:r>
          </a:p>
          <a:p>
            <a:r>
              <a:rPr lang="en-US" sz="2300">
                <a:ea typeface="+mn-lt"/>
                <a:cs typeface="+mn-lt"/>
              </a:rPr>
              <a:t>Model: YOLOv8m.pt</a:t>
            </a:r>
            <a:endParaRPr lang="en-US" sz="2300"/>
          </a:p>
          <a:p>
            <a:r>
              <a:rPr lang="en-US" sz="2300">
                <a:ea typeface="+mn-lt"/>
                <a:cs typeface="+mn-lt"/>
              </a:rPr>
              <a:t>Image size: 640x640</a:t>
            </a:r>
            <a:endParaRPr lang="en-US" sz="2300"/>
          </a:p>
          <a:p>
            <a:r>
              <a:rPr lang="en-US" sz="2300">
                <a:ea typeface="+mn-lt"/>
                <a:cs typeface="+mn-lt"/>
              </a:rPr>
              <a:t>Built-in loss functions and default YOLO augmentations used.</a:t>
            </a:r>
            <a:endParaRPr lang="en-US" sz="2300"/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138648-F702-266F-F04C-C97090431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675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95DF5-CED9-CFC2-2ADB-9A26B9A5D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52" y="-131066"/>
            <a:ext cx="6243339" cy="1438780"/>
          </a:xfrm>
        </p:spPr>
        <p:txBody>
          <a:bodyPr/>
          <a:lstStyle/>
          <a:p>
            <a:r>
              <a:rPr lang="en-US"/>
              <a:t>YOLOv8 - Experiments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080D049-E895-4E08-3EFB-911E74555B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7003559"/>
              </p:ext>
            </p:extLst>
          </p:nvPr>
        </p:nvGraphicFramePr>
        <p:xfrm>
          <a:off x="4818844" y="182450"/>
          <a:ext cx="6632034" cy="2873324"/>
        </p:xfrm>
        <a:graphic>
          <a:graphicData uri="http://schemas.openxmlformats.org/drawingml/2006/table">
            <a:tbl>
              <a:tblPr bandRow="1">
                <a:tableStyleId>{775DCB02-9BB8-47FD-8907-85C794F793BA}</a:tableStyleId>
              </a:tblPr>
              <a:tblGrid>
                <a:gridCol w="1883535">
                  <a:extLst>
                    <a:ext uri="{9D8B030D-6E8A-4147-A177-3AD203B41FA5}">
                      <a16:colId xmlns:a16="http://schemas.microsoft.com/office/drawing/2014/main" val="1127596107"/>
                    </a:ext>
                  </a:extLst>
                </a:gridCol>
                <a:gridCol w="1432481">
                  <a:extLst>
                    <a:ext uri="{9D8B030D-6E8A-4147-A177-3AD203B41FA5}">
                      <a16:colId xmlns:a16="http://schemas.microsoft.com/office/drawing/2014/main" val="3472424563"/>
                    </a:ext>
                  </a:extLst>
                </a:gridCol>
                <a:gridCol w="1658009">
                  <a:extLst>
                    <a:ext uri="{9D8B030D-6E8A-4147-A177-3AD203B41FA5}">
                      <a16:colId xmlns:a16="http://schemas.microsoft.com/office/drawing/2014/main" val="3519937262"/>
                    </a:ext>
                  </a:extLst>
                </a:gridCol>
                <a:gridCol w="1658009">
                  <a:extLst>
                    <a:ext uri="{9D8B030D-6E8A-4147-A177-3AD203B41FA5}">
                      <a16:colId xmlns:a16="http://schemas.microsoft.com/office/drawing/2014/main" val="3265518967"/>
                    </a:ext>
                  </a:extLst>
                </a:gridCol>
              </a:tblGrid>
              <a:tr h="39644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Model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Optimizer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Learning rate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Epochs </a:t>
                      </a: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1092037982"/>
                  </a:ext>
                </a:extLst>
              </a:tr>
              <a:tr h="51391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Experiment 0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SGD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1e-3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50 </a:t>
                      </a: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3617662639"/>
                  </a:ext>
                </a:extLst>
              </a:tr>
              <a:tr h="42581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Experiment 1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SGD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1e-4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50 </a:t>
                      </a: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4038909175"/>
                  </a:ext>
                </a:extLst>
              </a:tr>
              <a:tr h="41856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Experiment 2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Adam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1e-3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50 </a:t>
                      </a: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4087788490"/>
                  </a:ext>
                </a:extLst>
              </a:tr>
              <a:tr h="43466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Experiment 3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Adam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1e-3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100 </a:t>
                      </a: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2572444707"/>
                  </a:ext>
                </a:extLst>
              </a:tr>
              <a:tr h="616696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Experiment 4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Adam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1e-4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100 </a:t>
                      </a: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1603813193"/>
                  </a:ext>
                </a:extLst>
              </a:tr>
            </a:tbl>
          </a:graphicData>
        </a:graphic>
      </p:graphicFrame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D31AA591-3C5A-F89F-7721-775570D99D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5582019"/>
              </p:ext>
            </p:extLst>
          </p:nvPr>
        </p:nvGraphicFramePr>
        <p:xfrm>
          <a:off x="354168" y="3262647"/>
          <a:ext cx="10772946" cy="3424577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2390137">
                  <a:extLst>
                    <a:ext uri="{9D8B030D-6E8A-4147-A177-3AD203B41FA5}">
                      <a16:colId xmlns:a16="http://schemas.microsoft.com/office/drawing/2014/main" val="545463101"/>
                    </a:ext>
                  </a:extLst>
                </a:gridCol>
                <a:gridCol w="1661859">
                  <a:extLst>
                    <a:ext uri="{9D8B030D-6E8A-4147-A177-3AD203B41FA5}">
                      <a16:colId xmlns:a16="http://schemas.microsoft.com/office/drawing/2014/main" val="230145416"/>
                    </a:ext>
                  </a:extLst>
                </a:gridCol>
                <a:gridCol w="2448475">
                  <a:extLst>
                    <a:ext uri="{9D8B030D-6E8A-4147-A177-3AD203B41FA5}">
                      <a16:colId xmlns:a16="http://schemas.microsoft.com/office/drawing/2014/main" val="2915234508"/>
                    </a:ext>
                  </a:extLst>
                </a:gridCol>
                <a:gridCol w="1573229">
                  <a:extLst>
                    <a:ext uri="{9D8B030D-6E8A-4147-A177-3AD203B41FA5}">
                      <a16:colId xmlns:a16="http://schemas.microsoft.com/office/drawing/2014/main" val="907425889"/>
                    </a:ext>
                  </a:extLst>
                </a:gridCol>
                <a:gridCol w="1229777">
                  <a:extLst>
                    <a:ext uri="{9D8B030D-6E8A-4147-A177-3AD203B41FA5}">
                      <a16:colId xmlns:a16="http://schemas.microsoft.com/office/drawing/2014/main" val="826306504"/>
                    </a:ext>
                  </a:extLst>
                </a:gridCol>
                <a:gridCol w="1469469">
                  <a:extLst>
                    <a:ext uri="{9D8B030D-6E8A-4147-A177-3AD203B41FA5}">
                      <a16:colId xmlns:a16="http://schemas.microsoft.com/office/drawing/2014/main" val="1852167022"/>
                    </a:ext>
                  </a:extLst>
                </a:gridCol>
              </a:tblGrid>
              <a:tr h="66004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Models </a:t>
                      </a:r>
                    </a:p>
                  </a:txBody>
                  <a:tcPr marL="114363" marR="114363" marT="78421" marB="78421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mAP@0.5 </a:t>
                      </a:r>
                    </a:p>
                  </a:txBody>
                  <a:tcPr marL="114363" marR="114363" marT="78421" marB="78421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 err="1">
                          <a:solidFill>
                            <a:srgbClr val="FFFFFF"/>
                          </a:solidFill>
                          <a:effectLst/>
                        </a:rPr>
                        <a:t>mAP</a:t>
                      </a: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@[0.5:0.95] </a:t>
                      </a:r>
                    </a:p>
                  </a:txBody>
                  <a:tcPr marL="114363" marR="114363" marT="78421" marB="78421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precision </a:t>
                      </a:r>
                    </a:p>
                  </a:txBody>
                  <a:tcPr marL="114363" marR="114363" marT="78421" marB="78421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recall </a:t>
                      </a:r>
                    </a:p>
                  </a:txBody>
                  <a:tcPr marL="114363" marR="114363" marT="78421" marB="78421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</a:rPr>
                        <a:t>f1 </a:t>
                      </a:r>
                    </a:p>
                  </a:txBody>
                  <a:tcPr marL="114363" marR="114363" marT="78421" marB="78421" anchor="ctr"/>
                </a:tc>
                <a:extLst>
                  <a:ext uri="{0D108BD9-81ED-4DB2-BD59-A6C34878D82A}">
                    <a16:rowId xmlns:a16="http://schemas.microsoft.com/office/drawing/2014/main" val="3763911474"/>
                  </a:ext>
                </a:extLst>
              </a:tr>
              <a:tr h="55290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 b="1">
                          <a:effectLst/>
                        </a:rPr>
                        <a:t>Experiment 0 </a:t>
                      </a:r>
                    </a:p>
                  </a:txBody>
                  <a:tcPr marL="114363" marR="114363" marT="78421" marB="78421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 b="1">
                          <a:effectLst/>
                        </a:rPr>
                        <a:t>0.596 </a:t>
                      </a:r>
                    </a:p>
                  </a:txBody>
                  <a:tcPr marL="114363" marR="114363" marT="78421" marB="78421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 b="1">
                          <a:effectLst/>
                        </a:rPr>
                        <a:t>0.325 </a:t>
                      </a:r>
                    </a:p>
                  </a:txBody>
                  <a:tcPr marL="114363" marR="114363" marT="78421" marB="78421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 b="1">
                          <a:effectLst/>
                        </a:rPr>
                        <a:t>0.844 </a:t>
                      </a:r>
                    </a:p>
                  </a:txBody>
                  <a:tcPr marL="114363" marR="114363" marT="78421" marB="78421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 b="1">
                          <a:effectLst/>
                        </a:rPr>
                        <a:t>0.403 </a:t>
                      </a:r>
                    </a:p>
                  </a:txBody>
                  <a:tcPr marL="114363" marR="114363" marT="78421" marB="78421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 b="1">
                          <a:effectLst/>
                        </a:rPr>
                        <a:t>0.545 </a:t>
                      </a:r>
                    </a:p>
                  </a:txBody>
                  <a:tcPr marL="114363" marR="114363" marT="78421" marB="78421" anchor="ctr"/>
                </a:tc>
                <a:extLst>
                  <a:ext uri="{0D108BD9-81ED-4DB2-BD59-A6C34878D82A}">
                    <a16:rowId xmlns:a16="http://schemas.microsoft.com/office/drawing/2014/main" val="2892342868"/>
                  </a:ext>
                </a:extLst>
              </a:tr>
              <a:tr h="55290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Experiment 1 </a:t>
                      </a:r>
                    </a:p>
                  </a:txBody>
                  <a:tcPr marL="114363" marR="114363" marT="78421" marB="78421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0.434 </a:t>
                      </a:r>
                    </a:p>
                  </a:txBody>
                  <a:tcPr marL="114363" marR="114363" marT="78421" marB="78421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0.251 </a:t>
                      </a:r>
                    </a:p>
                  </a:txBody>
                  <a:tcPr marL="114363" marR="114363" marT="78421" marB="78421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0.73 </a:t>
                      </a:r>
                    </a:p>
                  </a:txBody>
                  <a:tcPr marL="114363" marR="114363" marT="78421" marB="78421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0.164 </a:t>
                      </a:r>
                    </a:p>
                  </a:txBody>
                  <a:tcPr marL="114363" marR="114363" marT="78421" marB="78421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0.268 </a:t>
                      </a:r>
                    </a:p>
                  </a:txBody>
                  <a:tcPr marL="114363" marR="114363" marT="78421" marB="78421" anchor="ctr"/>
                </a:tc>
                <a:extLst>
                  <a:ext uri="{0D108BD9-81ED-4DB2-BD59-A6C34878D82A}">
                    <a16:rowId xmlns:a16="http://schemas.microsoft.com/office/drawing/2014/main" val="76546482"/>
                  </a:ext>
                </a:extLst>
              </a:tr>
              <a:tr h="55290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Experiment 2 </a:t>
                      </a:r>
                    </a:p>
                  </a:txBody>
                  <a:tcPr marL="114363" marR="114363" marT="78421" marB="78421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0.473 </a:t>
                      </a:r>
                    </a:p>
                  </a:txBody>
                  <a:tcPr marL="114363" marR="114363" marT="78421" marB="78421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0.245 </a:t>
                      </a:r>
                    </a:p>
                  </a:txBody>
                  <a:tcPr marL="114363" marR="114363" marT="78421" marB="78421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0.75 </a:t>
                      </a:r>
                    </a:p>
                  </a:txBody>
                  <a:tcPr marL="114363" marR="114363" marT="78421" marB="78421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0.179 </a:t>
                      </a:r>
                    </a:p>
                  </a:txBody>
                  <a:tcPr marL="114363" marR="114363" marT="78421" marB="78421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0.289 </a:t>
                      </a:r>
                    </a:p>
                  </a:txBody>
                  <a:tcPr marL="114363" marR="114363" marT="78421" marB="78421" anchor="ctr"/>
                </a:tc>
                <a:extLst>
                  <a:ext uri="{0D108BD9-81ED-4DB2-BD59-A6C34878D82A}">
                    <a16:rowId xmlns:a16="http://schemas.microsoft.com/office/drawing/2014/main" val="1622422437"/>
                  </a:ext>
                </a:extLst>
              </a:tr>
              <a:tr h="55290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Experiment 3 </a:t>
                      </a:r>
                    </a:p>
                  </a:txBody>
                  <a:tcPr marL="114363" marR="114363" marT="78421" marB="78421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0.504 </a:t>
                      </a:r>
                    </a:p>
                  </a:txBody>
                  <a:tcPr marL="114363" marR="114363" marT="78421" marB="78421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0.223 </a:t>
                      </a:r>
                    </a:p>
                  </a:txBody>
                  <a:tcPr marL="114363" marR="114363" marT="78421" marB="78421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0.75 </a:t>
                      </a:r>
                    </a:p>
                  </a:txBody>
                  <a:tcPr marL="114363" marR="114363" marT="78421" marB="78421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0.269 </a:t>
                      </a:r>
                    </a:p>
                  </a:txBody>
                  <a:tcPr marL="114363" marR="114363" marT="78421" marB="78421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0.396 </a:t>
                      </a:r>
                    </a:p>
                  </a:txBody>
                  <a:tcPr marL="114363" marR="114363" marT="78421" marB="78421" anchor="ctr"/>
                </a:tc>
                <a:extLst>
                  <a:ext uri="{0D108BD9-81ED-4DB2-BD59-A6C34878D82A}">
                    <a16:rowId xmlns:a16="http://schemas.microsoft.com/office/drawing/2014/main" val="1968529229"/>
                  </a:ext>
                </a:extLst>
              </a:tr>
              <a:tr h="55290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Experiment 4 </a:t>
                      </a:r>
                    </a:p>
                  </a:txBody>
                  <a:tcPr marL="114363" marR="114363" marT="78421" marB="78421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0.513 </a:t>
                      </a:r>
                    </a:p>
                  </a:txBody>
                  <a:tcPr marL="114363" marR="114363" marT="78421" marB="78421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0.287 </a:t>
                      </a:r>
                    </a:p>
                  </a:txBody>
                  <a:tcPr marL="114363" marR="114363" marT="78421" marB="78421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0.724 </a:t>
                      </a:r>
                    </a:p>
                  </a:txBody>
                  <a:tcPr marL="114363" marR="114363" marT="78421" marB="78421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0.313 </a:t>
                      </a:r>
                    </a:p>
                  </a:txBody>
                  <a:tcPr marL="114363" marR="114363" marT="78421" marB="78421"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0.438 </a:t>
                      </a:r>
                    </a:p>
                  </a:txBody>
                  <a:tcPr marL="114363" marR="114363" marT="78421" marB="78421" anchor="ctr"/>
                </a:tc>
                <a:extLst>
                  <a:ext uri="{0D108BD9-81ED-4DB2-BD59-A6C34878D82A}">
                    <a16:rowId xmlns:a16="http://schemas.microsoft.com/office/drawing/2014/main" val="77318928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60B24-2F6E-3297-1425-4592ADF8B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5350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2FD56-C456-EA7F-DD52-79A7D8BBD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X-ray of a hand&#10;&#10;AI-generated content may be incorrect.">
            <a:extLst>
              <a:ext uri="{FF2B5EF4-FFF2-40B4-BE49-F238E27FC236}">
                <a16:creationId xmlns:a16="http://schemas.microsoft.com/office/drawing/2014/main" id="{105E1276-3BBD-7084-605C-6BCF5F20D3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827" y="368234"/>
            <a:ext cx="5814482" cy="6039172"/>
          </a:xfrm>
        </p:spPr>
      </p:pic>
      <p:pic>
        <p:nvPicPr>
          <p:cNvPr id="7" name="Picture 6" descr="X-ray of a hand&#10;&#10;AI-generated content may be incorrect.">
            <a:extLst>
              <a:ext uri="{FF2B5EF4-FFF2-40B4-BE49-F238E27FC236}">
                <a16:creationId xmlns:a16="http://schemas.microsoft.com/office/drawing/2014/main" id="{D1C254BF-6314-EEF4-BFCE-2F03F4361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509" y="363564"/>
            <a:ext cx="5482847" cy="604046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70196-1ACB-BCE6-053A-7758BF4E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6703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D1FB8-2A67-8ED2-D027-F7F4EA8B1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Compare Results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419BDC-2DAD-339B-0C94-AE6917351A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9894445"/>
              </p:ext>
            </p:extLst>
          </p:nvPr>
        </p:nvGraphicFramePr>
        <p:xfrm>
          <a:off x="1118428" y="2650075"/>
          <a:ext cx="9956795" cy="2877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1359">
                  <a:extLst>
                    <a:ext uri="{9D8B030D-6E8A-4147-A177-3AD203B41FA5}">
                      <a16:colId xmlns:a16="http://schemas.microsoft.com/office/drawing/2014/main" val="2560617510"/>
                    </a:ext>
                  </a:extLst>
                </a:gridCol>
                <a:gridCol w="1991359">
                  <a:extLst>
                    <a:ext uri="{9D8B030D-6E8A-4147-A177-3AD203B41FA5}">
                      <a16:colId xmlns:a16="http://schemas.microsoft.com/office/drawing/2014/main" val="542183181"/>
                    </a:ext>
                  </a:extLst>
                </a:gridCol>
                <a:gridCol w="1991359">
                  <a:extLst>
                    <a:ext uri="{9D8B030D-6E8A-4147-A177-3AD203B41FA5}">
                      <a16:colId xmlns:a16="http://schemas.microsoft.com/office/drawing/2014/main" val="2053639306"/>
                    </a:ext>
                  </a:extLst>
                </a:gridCol>
                <a:gridCol w="1991359">
                  <a:extLst>
                    <a:ext uri="{9D8B030D-6E8A-4147-A177-3AD203B41FA5}">
                      <a16:colId xmlns:a16="http://schemas.microsoft.com/office/drawing/2014/main" val="387618233"/>
                    </a:ext>
                  </a:extLst>
                </a:gridCol>
                <a:gridCol w="1991359">
                  <a:extLst>
                    <a:ext uri="{9D8B030D-6E8A-4147-A177-3AD203B41FA5}">
                      <a16:colId xmlns:a16="http://schemas.microsoft.com/office/drawing/2014/main" val="1992761228"/>
                    </a:ext>
                  </a:extLst>
                </a:gridCol>
              </a:tblGrid>
              <a:tr h="575415">
                <a:tc>
                  <a:txBody>
                    <a:bodyPr/>
                    <a:lstStyle/>
                    <a:p>
                      <a:r>
                        <a:rPr lang="en-US" sz="2000"/>
                        <a:t>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MAP@0.5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38240"/>
                  </a:ext>
                </a:extLst>
              </a:tr>
              <a:tr h="575415">
                <a:tc>
                  <a:txBody>
                    <a:bodyPr/>
                    <a:lstStyle/>
                    <a:p>
                      <a:r>
                        <a:rPr lang="en-US" sz="2000"/>
                        <a:t>ResNet18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0.0666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0.0666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0.767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0.1195</a:t>
                      </a:r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577535"/>
                  </a:ext>
                </a:extLst>
              </a:tr>
              <a:tr h="575415">
                <a:tc>
                  <a:txBody>
                    <a:bodyPr/>
                    <a:lstStyle/>
                    <a:p>
                      <a:r>
                        <a:rPr lang="en-US" sz="2000"/>
                        <a:t>DenseNet121</a:t>
                      </a:r>
                      <a:endParaRPr lang="en-US" sz="20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0.1628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0.0513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0.7313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0.0942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057604"/>
                  </a:ext>
                </a:extLst>
              </a:tr>
              <a:tr h="575415">
                <a:tc>
                  <a:txBody>
                    <a:bodyPr/>
                    <a:lstStyle/>
                    <a:p>
                      <a:r>
                        <a:rPr lang="en-US" sz="2000"/>
                        <a:t>Faster R-CNN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0.303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0.6083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0.4875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0.517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736893"/>
                  </a:ext>
                </a:extLst>
              </a:tr>
              <a:tr h="575415">
                <a:tc>
                  <a:txBody>
                    <a:bodyPr/>
                    <a:lstStyle/>
                    <a:p>
                      <a:r>
                        <a:rPr lang="en-US" sz="2000"/>
                        <a:t>YOLOv8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0.596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0.844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0.403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0.545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72178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EC538F-1FEF-E298-409D-729E19D86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0789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4274B-228D-57B6-B853-B6FB4BF2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52" y="-2277"/>
            <a:ext cx="9956747" cy="1438780"/>
          </a:xfrm>
        </p:spPr>
        <p:txBody>
          <a:bodyPr/>
          <a:lstStyle/>
          <a:p>
            <a:r>
              <a:rPr lang="en-US"/>
              <a:t>Result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FE567-255F-ABE4-0824-ED9F6E03E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791" y="1716500"/>
            <a:ext cx="10729480" cy="448192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/>
              <a:t>Best model: YOLOv8</a:t>
            </a:r>
            <a:r>
              <a:rPr lang="en-US" sz="2000">
                <a:ea typeface="+mn-lt"/>
                <a:cs typeface="+mn-lt"/>
              </a:rPr>
              <a:t> – Demonstrated the highest localization accuracy with a strong balance of precision and efficiency</a:t>
            </a:r>
            <a:endParaRPr lang="en-US" sz="2000"/>
          </a:p>
          <a:p>
            <a:r>
              <a:rPr lang="en-US" sz="2000"/>
              <a:t>Worst model: </a:t>
            </a:r>
            <a:r>
              <a:rPr lang="en-US" sz="2000">
                <a:ea typeface="+mn-lt"/>
                <a:cs typeface="+mn-lt"/>
              </a:rPr>
              <a:t> ResNet18 – Struggled with fracture detection, showing low </a:t>
            </a:r>
            <a:r>
              <a:rPr lang="en-US" sz="2000" err="1">
                <a:ea typeface="+mn-lt"/>
                <a:cs typeface="+mn-lt"/>
              </a:rPr>
              <a:t>mAP</a:t>
            </a:r>
            <a:r>
              <a:rPr lang="en-US" sz="2000">
                <a:ea typeface="+mn-lt"/>
                <a:cs typeface="+mn-lt"/>
              </a:rPr>
              <a:t> and poor localization performance.</a:t>
            </a:r>
          </a:p>
          <a:p>
            <a:r>
              <a:rPr lang="en-US" sz="2000"/>
              <a:t>What techniques work: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Streamlined pipeline and feedback loop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Gathering training data to refine training</a:t>
            </a:r>
          </a:p>
          <a:p>
            <a:r>
              <a:rPr lang="en-US" sz="2000"/>
              <a:t>What doesn't: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Oversampling yielded negligible results for this dataset.</a:t>
            </a:r>
          </a:p>
          <a:p>
            <a:r>
              <a:rPr lang="en-US" sz="2000"/>
              <a:t>Key takeaways: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Model Architecture matters.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endParaRPr lang="en-US" sz="2000"/>
          </a:p>
          <a:p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endParaRPr lang="en-US" sz="2000"/>
          </a:p>
          <a:p>
            <a:endParaRPr lang="en-US" sz="20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5B18CC-404B-C48E-B81D-B2B8F579E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5887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EFF48-D419-1AF8-1255-CE0305025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E7DBC-0812-B035-7164-1D8A7C2B1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/>
              <a:t>What we did well: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Collaboration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000"/>
              <a:t>We were able to rely on each other to do their part</a:t>
            </a:r>
          </a:p>
          <a:p>
            <a:r>
              <a:rPr lang="en-US" sz="2000"/>
              <a:t>What we did not achieve: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Did not implement Grad-Cam as planned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Modeling pipeline is somewhat inconsistent across models</a:t>
            </a:r>
          </a:p>
          <a:p>
            <a:endParaRPr lang="en-US" sz="20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CFAA5B-982E-AF0A-7658-AC52B4723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9053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0A242-50F8-56EA-595D-3AA79F6C1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Contributions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2DF71-A2A5-9FFA-B3B3-DA97BAAD5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500"/>
              <a:t>Aria Kieras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500"/>
              <a:t>EDA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500"/>
              <a:t>Data pre-processing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500"/>
              <a:t>ResNet18 Specialist (baseline)</a:t>
            </a:r>
          </a:p>
          <a:p>
            <a:r>
              <a:rPr lang="en-US" sz="2500"/>
              <a:t>Jeff Conner: DenseNet121 Specialist (baseline)</a:t>
            </a:r>
          </a:p>
          <a:p>
            <a:r>
              <a:rPr lang="en-US" sz="2500"/>
              <a:t>David Boulos: Faster R-CNN Specialist (Initial solution)</a:t>
            </a:r>
          </a:p>
          <a:p>
            <a:r>
              <a:rPr lang="en-US" sz="2500"/>
              <a:t>Nhu Tran: YOLOv8 Specialist (Refined Solution)</a:t>
            </a:r>
          </a:p>
          <a:p>
            <a:endParaRPr lang="en-US" sz="25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6A6D70-D2C0-3BD5-5436-44CE6FF05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806939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DylanVTI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Dylan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Dylan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CD0E21EA-FD0B-4FCD-9D95-B274E3CB7535}" vid="{F2F2D961-94DA-46D9-ABD7-77D6D5FB2C2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33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DylanVTI</vt:lpstr>
      <vt:lpstr>Bone Fractures Localization</vt:lpstr>
      <vt:lpstr>Project Overview</vt:lpstr>
      <vt:lpstr>Dataset Summary</vt:lpstr>
      <vt:lpstr>Dataset Summary</vt:lpstr>
      <vt:lpstr>Summary of EDA insights</vt:lpstr>
      <vt:lpstr>PowerPoint Presentation</vt:lpstr>
      <vt:lpstr>ResNet18 – Model Overview</vt:lpstr>
      <vt:lpstr>Before Oversampling</vt:lpstr>
      <vt:lpstr>PowerPoint Presentation</vt:lpstr>
      <vt:lpstr>After Oversampling</vt:lpstr>
      <vt:lpstr>What worked, what didn’t</vt:lpstr>
      <vt:lpstr>DenseNet121 – Model Overview</vt:lpstr>
      <vt:lpstr>No Oversampling - DenseNet121</vt:lpstr>
      <vt:lpstr>PowerPoint Presentation</vt:lpstr>
      <vt:lpstr>Oversampled</vt:lpstr>
      <vt:lpstr>PowerPoint Presentation</vt:lpstr>
      <vt:lpstr>Oversampled &amp; Increased Threshold</vt:lpstr>
      <vt:lpstr>PowerPoint Presentation</vt:lpstr>
      <vt:lpstr>Faster R-CNN – Model Overview</vt:lpstr>
      <vt:lpstr>Faster R-CNN - Getting the model to work.</vt:lpstr>
      <vt:lpstr>Faster R-CNN - Training</vt:lpstr>
      <vt:lpstr>Faster R-CNN - Training</vt:lpstr>
      <vt:lpstr>Faster R-CNN - Performance</vt:lpstr>
      <vt:lpstr>Faster R-CNN (end)</vt:lpstr>
      <vt:lpstr>YOLOv8 – Model Overview</vt:lpstr>
      <vt:lpstr>YOLOv8 – Data Preparation</vt:lpstr>
      <vt:lpstr>YOLOv8 – Training Setup</vt:lpstr>
      <vt:lpstr>YOLOv8 - Experiments</vt:lpstr>
      <vt:lpstr>PowerPoint Presentation</vt:lpstr>
      <vt:lpstr>Compare Results </vt:lpstr>
      <vt:lpstr>Result Discussion</vt:lpstr>
      <vt:lpstr>Reflections</vt:lpstr>
      <vt:lpstr>Contributions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2025-04-23T22:41:14Z</dcterms:created>
  <dcterms:modified xsi:type="dcterms:W3CDTF">2025-05-02T00:19:37Z</dcterms:modified>
</cp:coreProperties>
</file>